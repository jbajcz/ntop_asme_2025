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comments/modernComment_108_1739ED2F.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comments/modernComment_10B_244C86A6.xml" ContentType="application/vnd.ms-powerpoint.comments+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4_5854979E.xml" ContentType="application/vnd.ms-powerpoint.comments+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56" r:id="rId5"/>
    <p:sldId id="257" r:id="rId6"/>
    <p:sldId id="261" r:id="rId7"/>
    <p:sldId id="262" r:id="rId8"/>
    <p:sldId id="263" r:id="rId9"/>
    <p:sldId id="271" r:id="rId10"/>
    <p:sldId id="266" r:id="rId11"/>
    <p:sldId id="270" r:id="rId12"/>
    <p:sldId id="265" r:id="rId13"/>
    <p:sldId id="264" r:id="rId14"/>
    <p:sldId id="267" r:id="rId15"/>
    <p:sldId id="268" r:id="rId16"/>
    <p:sldId id="269" r:id="rId17"/>
    <p:sldId id="259" r:id="rId18"/>
    <p:sldId id="260"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B818259-4916-D5B5-A460-999B7ABB9810}" name="Bajcz, Jack" initials="JB" userId="S::bajczjac@msu.edu::1823e2ea-ea6d-422c-bd07-297f7139f5d7" providerId="AD"/>
  <p188:author id="{92C6F999-111F-CF91-EF63-2C3C07AF6ADF}" name="Quirante, Jeffrey" initials="QJ" userId="S::quirant2@msu.edu::f4343bd4-c4fb-4ead-89a8-62486d84d36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2E62BD-3573-F4A8-29A5-2850B83B6B17}" v="2243" dt="2025-08-17T06:48:54.358"/>
    <p1510:client id="{F25506EA-71BC-491E-8408-0FC438756916}" v="11445" dt="2025-08-17T06:24:01.7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56" y="15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comments/modernComment_10B_244C86A6.xml><?xml version="1.0" encoding="utf-8"?>
<p188:cmLst xmlns:a="http://schemas.openxmlformats.org/drawingml/2006/main" xmlns:r="http://schemas.openxmlformats.org/officeDocument/2006/relationships" xmlns:p188="http://schemas.microsoft.com/office/powerpoint/2018/8/main">
  <p188:cm id="{139650FB-FD0D-417A-924E-2B1E347FCFFA}" authorId="{92C6F999-111F-CF91-EF63-2C3C07AF6ADF}" status="resolved" created="2025-08-17T02:08:51.715" complete="100000">
    <ac:txMkLst xmlns:ac="http://schemas.microsoft.com/office/drawing/2013/main/command">
      <pc:docMk xmlns:pc="http://schemas.microsoft.com/office/powerpoint/2013/main/command"/>
      <pc:sldMk xmlns:pc="http://schemas.microsoft.com/office/powerpoint/2013/main/command" cId="608994982" sldId="267"/>
      <ac:spMk id="3" creationId="{12CFA4F7-C3A8-FB34-F0C5-7CD2286CF8AE}"/>
      <ac:txMk cp="0">
        <ac:context len="246" hash="2204700924"/>
      </ac:txMk>
    </ac:txMkLst>
    <p188:pos x="7016150" y="2429773"/>
    <p188:txBody>
      <a:bodyPr/>
      <a:lstStyle/>
      <a:p>
        <a:r>
          <a:rPr lang="en-US"/>
          <a:t>add 3d scatter plot of random points</a:t>
        </a:r>
      </a:p>
    </p188:txBody>
  </p188:cm>
</p188:cmLst>
</file>

<file path=ppt/comments/modernComment_104_5854979E.xml><?xml version="1.0" encoding="utf-8"?>
<p188:cmLst xmlns:a="http://schemas.openxmlformats.org/drawingml/2006/main" xmlns:r="http://schemas.openxmlformats.org/officeDocument/2006/relationships" xmlns:p188="http://schemas.microsoft.com/office/powerpoint/2018/8/main">
  <p188:cm id="{A407BF1F-6939-4F8D-9E9B-9AC737D8578D}" authorId="{6B818259-4916-D5B5-A460-999B7ABB9810}" status="resolved" created="2025-08-17T01:10:17.160" complete="100000">
    <ac:txMkLst xmlns:ac="http://schemas.microsoft.com/office/drawing/2013/main/command">
      <pc:docMk xmlns:pc="http://schemas.microsoft.com/office/powerpoint/2013/main/command"/>
      <pc:sldMk xmlns:pc="http://schemas.microsoft.com/office/powerpoint/2013/main/command" cId="1481938846" sldId="260"/>
      <ac:spMk id="3" creationId="{1351FA78-D35F-11AC-54D8-7D7566F8F57C}"/>
      <ac:txMk cp="0">
        <ac:context len="282" hash="4143665401"/>
      </ac:txMk>
    </ac:txMkLst>
    <p188:pos x="10066361" y="207891"/>
    <p188:replyLst>
      <p188:reply id="{84578F53-38B4-4C89-BAFC-8C29050CD1F5}" authorId="{6B818259-4916-D5B5-A460-999B7ABB9810}" created="2025-08-17T01:10:34.960">
        <p188:txBody>
          <a:bodyPr/>
          <a:lstStyle/>
          <a:p>
            <a:r>
              <a:rPr lang="en-US"/>
              <a:t>Might be better to frame the problem statement with this context. </a:t>
            </a:r>
          </a:p>
        </p188:txBody>
      </p188:reply>
      <p188:reply id="{8B7BAF3E-D748-4596-B855-2E884FE5DB80}" authorId="{6B818259-4916-D5B5-A460-999B7ABB9810}" created="2025-08-17T01:11:11.210">
        <p188:txBody>
          <a:bodyPr/>
          <a:lstStyle/>
          <a:p>
            <a:r>
              <a:rPr lang="en-US"/>
              <a:t>Like we are accelerating the design process by using a surrogate model instead of full simulation runs</a:t>
            </a:r>
          </a:p>
        </p188:txBody>
      </p188:reply>
    </p188:replyLst>
    <p188:txBody>
      <a:bodyPr/>
      <a:lstStyle/>
      <a:p>
        <a:r>
          <a:rPr lang="en-US"/>
          <a:t>I think this we can use in the problem introduction. </a:t>
        </a:r>
      </a:p>
    </p188:txBody>
  </p188:cm>
</p188:cmLst>
</file>

<file path=ppt/comments/modernComment_108_1739ED2F.xml><?xml version="1.0" encoding="utf-8"?>
<p188:cmLst xmlns:a="http://schemas.openxmlformats.org/drawingml/2006/main" xmlns:r="http://schemas.openxmlformats.org/officeDocument/2006/relationships" xmlns:p188="http://schemas.microsoft.com/office/powerpoint/2018/8/main">
  <p188:cm id="{9DD6C11C-3631-4795-B46D-EEF6E53ED20D}" authorId="{6B818259-4916-D5B5-A460-999B7ABB9810}" status="resolved" created="2025-08-17T01:56:32.738" complete="100000">
    <ac:txMkLst xmlns:ac="http://schemas.microsoft.com/office/drawing/2013/main/command">
      <pc:docMk xmlns:pc="http://schemas.microsoft.com/office/powerpoint/2013/main/command"/>
      <pc:sldMk xmlns:pc="http://schemas.microsoft.com/office/powerpoint/2013/main/command" cId="389672239" sldId="264"/>
      <ac:spMk id="3" creationId="{A4D90B6C-BA3F-50DF-CEA6-828D7DFE05F2}"/>
      <ac:txMk cp="119" len="16">
        <ac:context len="183" hash="1243599755"/>
      </ac:txMk>
    </ac:txMkLst>
    <p188:txBody>
      <a:bodyPr/>
      <a:lstStyle/>
      <a:p>
        <a:r>
          <a:rPr lang="en-US"/>
          <a:t>To determine viable design space within limits</a:t>
        </a:r>
      </a:p>
    </p188:txBody>
  </p188:cm>
</p188:cmLst>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49E8AEE-A181-4E19-B6B6-14090C04337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B1200A2-EFDE-44D2-8EB8-F7CC74802ADA}">
      <dgm:prSet custT="1"/>
      <dgm:spPr/>
      <dgm:t>
        <a:bodyPr/>
        <a:lstStyle/>
        <a:p>
          <a:r>
            <a:rPr lang="en-US" sz="3600" b="1"/>
            <a:t>Dataset Input Ranges:</a:t>
          </a:r>
          <a:endParaRPr lang="en-US" sz="3600"/>
        </a:p>
      </dgm:t>
    </dgm:pt>
    <dgm:pt modelId="{674BC386-9DC1-4091-BD8F-71D8C0305156}" type="parTrans" cxnId="{842644EE-239E-4BE8-BAE9-72D18F3E6737}">
      <dgm:prSet/>
      <dgm:spPr/>
      <dgm:t>
        <a:bodyPr/>
        <a:lstStyle/>
        <a:p>
          <a:endParaRPr lang="en-US"/>
        </a:p>
      </dgm:t>
    </dgm:pt>
    <dgm:pt modelId="{18B7EC0E-5573-4F09-8E7E-D314EC10A275}" type="sibTrans" cxnId="{842644EE-239E-4BE8-BAE9-72D18F3E6737}">
      <dgm:prSet/>
      <dgm:spPr/>
      <dgm:t>
        <a:bodyPr/>
        <a:lstStyle/>
        <a:p>
          <a:endParaRPr lang="en-US"/>
        </a:p>
      </dgm:t>
    </dgm:pt>
    <dgm:pt modelId="{BB2CF6DD-443C-407A-A095-541EF823683B}">
      <dgm:prSet custT="1"/>
      <dgm:spPr/>
      <dgm:t>
        <a:bodyPr/>
        <a:lstStyle/>
        <a:p>
          <a:r>
            <a:rPr lang="en-US" sz="2400"/>
            <a:t>10mm &lt; Cell Size X &lt; 25 mm</a:t>
          </a:r>
        </a:p>
      </dgm:t>
    </dgm:pt>
    <dgm:pt modelId="{2FA1F052-41A4-4E5A-9AA9-018E7C215CCC}" type="parTrans" cxnId="{43FC8123-798A-478F-A9BE-DC45F291149E}">
      <dgm:prSet/>
      <dgm:spPr/>
      <dgm:t>
        <a:bodyPr/>
        <a:lstStyle/>
        <a:p>
          <a:endParaRPr lang="en-US"/>
        </a:p>
      </dgm:t>
    </dgm:pt>
    <dgm:pt modelId="{11EAB3F5-0F13-482E-937A-23C9BB35D5C3}" type="sibTrans" cxnId="{43FC8123-798A-478F-A9BE-DC45F291149E}">
      <dgm:prSet/>
      <dgm:spPr/>
      <dgm:t>
        <a:bodyPr/>
        <a:lstStyle/>
        <a:p>
          <a:endParaRPr lang="en-US"/>
        </a:p>
      </dgm:t>
    </dgm:pt>
    <dgm:pt modelId="{F06447E7-36C1-4B1C-9425-912250C36667}">
      <dgm:prSet custT="1"/>
      <dgm:spPr/>
      <dgm:t>
        <a:bodyPr/>
        <a:lstStyle/>
        <a:p>
          <a:r>
            <a:rPr lang="en-US" sz="2400"/>
            <a:t>10mm &lt; Cell Size Y/Z &lt; 25 mm</a:t>
          </a:r>
        </a:p>
      </dgm:t>
    </dgm:pt>
    <dgm:pt modelId="{C1B439C3-C707-49CD-8FD7-FD9C29E059E0}" type="parTrans" cxnId="{B34EA9CA-2A14-4A72-9442-3D9611CA96B4}">
      <dgm:prSet/>
      <dgm:spPr/>
      <dgm:t>
        <a:bodyPr/>
        <a:lstStyle/>
        <a:p>
          <a:endParaRPr lang="en-US"/>
        </a:p>
      </dgm:t>
    </dgm:pt>
    <dgm:pt modelId="{E99608DF-50C1-41D1-BBC6-9F774768F951}" type="sibTrans" cxnId="{B34EA9CA-2A14-4A72-9442-3D9611CA96B4}">
      <dgm:prSet/>
      <dgm:spPr/>
      <dgm:t>
        <a:bodyPr/>
        <a:lstStyle/>
        <a:p>
          <a:endParaRPr lang="en-US"/>
        </a:p>
      </dgm:t>
    </dgm:pt>
    <dgm:pt modelId="{ED2DC0CB-4A6B-4F92-9197-2CA756E5EC15}">
      <dgm:prSet custT="1"/>
      <dgm:spPr/>
      <dgm:t>
        <a:bodyPr/>
        <a:lstStyle/>
        <a:p>
          <a:r>
            <a:rPr lang="en-US" sz="2400"/>
            <a:t>2500 mm/s &lt; Inlet Velocity &lt; 3500 mm/s</a:t>
          </a:r>
        </a:p>
      </dgm:t>
    </dgm:pt>
    <dgm:pt modelId="{87D1BA49-FA90-49E3-B1D1-2CB3EB374D82}" type="parTrans" cxnId="{8BD70EF9-D1E9-48A0-A8AC-96523C1EEF92}">
      <dgm:prSet/>
      <dgm:spPr/>
      <dgm:t>
        <a:bodyPr/>
        <a:lstStyle/>
        <a:p>
          <a:endParaRPr lang="en-US"/>
        </a:p>
      </dgm:t>
    </dgm:pt>
    <dgm:pt modelId="{A075A561-5EC7-4D69-BF26-0AF1BECEC912}" type="sibTrans" cxnId="{8BD70EF9-D1E9-48A0-A8AC-96523C1EEF92}">
      <dgm:prSet/>
      <dgm:spPr/>
      <dgm:t>
        <a:bodyPr/>
        <a:lstStyle/>
        <a:p>
          <a:endParaRPr lang="en-US"/>
        </a:p>
      </dgm:t>
    </dgm:pt>
    <dgm:pt modelId="{DA0C4E4F-6A4B-403F-9EAE-BBB338986814}">
      <dgm:prSet custT="1"/>
      <dgm:spPr/>
      <dgm:t>
        <a:bodyPr/>
        <a:lstStyle/>
        <a:p>
          <a:r>
            <a:rPr lang="en-US" sz="3600" b="1"/>
            <a:t>Generated 1000 data points</a:t>
          </a:r>
        </a:p>
      </dgm:t>
    </dgm:pt>
    <dgm:pt modelId="{106DD8F2-0271-4D59-90FD-35B953B6F996}" type="parTrans" cxnId="{F4ACB0E1-D0FA-4B2C-8287-1FBC0C83B25D}">
      <dgm:prSet/>
      <dgm:spPr/>
      <dgm:t>
        <a:bodyPr/>
        <a:lstStyle/>
        <a:p>
          <a:endParaRPr lang="en-US"/>
        </a:p>
      </dgm:t>
    </dgm:pt>
    <dgm:pt modelId="{857D2845-1FB8-4912-8801-183A1F81F1FB}" type="sibTrans" cxnId="{F4ACB0E1-D0FA-4B2C-8287-1FBC0C83B25D}">
      <dgm:prSet/>
      <dgm:spPr/>
      <dgm:t>
        <a:bodyPr/>
        <a:lstStyle/>
        <a:p>
          <a:endParaRPr lang="en-US"/>
        </a:p>
      </dgm:t>
    </dgm:pt>
    <dgm:pt modelId="{889AD54B-F642-4449-BC41-85DFF9AEA7FD}" type="pres">
      <dgm:prSet presAssocID="{E49E8AEE-A181-4E19-B6B6-14090C04337B}" presName="linear" presStyleCnt="0">
        <dgm:presLayoutVars>
          <dgm:animLvl val="lvl"/>
          <dgm:resizeHandles val="exact"/>
        </dgm:presLayoutVars>
      </dgm:prSet>
      <dgm:spPr/>
    </dgm:pt>
    <dgm:pt modelId="{5C29C085-455C-45E6-9B88-42CE8E469AD4}" type="pres">
      <dgm:prSet presAssocID="{CB1200A2-EFDE-44D2-8EB8-F7CC74802ADA}" presName="parentText" presStyleLbl="node1" presStyleIdx="0" presStyleCnt="2" custScaleX="100000" custScaleY="76269" custLinFactNeighborX="-1657" custLinFactNeighborY="-3391">
        <dgm:presLayoutVars>
          <dgm:chMax val="0"/>
          <dgm:bulletEnabled val="1"/>
        </dgm:presLayoutVars>
      </dgm:prSet>
      <dgm:spPr/>
    </dgm:pt>
    <dgm:pt modelId="{0630879E-F776-4B62-BD4F-80F79FE76868}" type="pres">
      <dgm:prSet presAssocID="{CB1200A2-EFDE-44D2-8EB8-F7CC74802ADA}" presName="childText" presStyleLbl="revTx" presStyleIdx="0" presStyleCnt="1">
        <dgm:presLayoutVars>
          <dgm:bulletEnabled val="1"/>
        </dgm:presLayoutVars>
      </dgm:prSet>
      <dgm:spPr/>
    </dgm:pt>
    <dgm:pt modelId="{B10681E4-0545-41CC-9584-D0681D91388A}" type="pres">
      <dgm:prSet presAssocID="{DA0C4E4F-6A4B-403F-9EAE-BBB338986814}" presName="parentText" presStyleLbl="node1" presStyleIdx="1" presStyleCnt="2" custScaleY="76399" custLinFactNeighborX="-653" custLinFactNeighborY="33344">
        <dgm:presLayoutVars>
          <dgm:chMax val="0"/>
          <dgm:bulletEnabled val="1"/>
        </dgm:presLayoutVars>
      </dgm:prSet>
      <dgm:spPr/>
    </dgm:pt>
  </dgm:ptLst>
  <dgm:cxnLst>
    <dgm:cxn modelId="{43FC8123-798A-478F-A9BE-DC45F291149E}" srcId="{CB1200A2-EFDE-44D2-8EB8-F7CC74802ADA}" destId="{BB2CF6DD-443C-407A-A095-541EF823683B}" srcOrd="0" destOrd="0" parTransId="{2FA1F052-41A4-4E5A-9AA9-018E7C215CCC}" sibTransId="{11EAB3F5-0F13-482E-937A-23C9BB35D5C3}"/>
    <dgm:cxn modelId="{F7779C34-054E-41CF-B779-47D958222386}" type="presOf" srcId="{BB2CF6DD-443C-407A-A095-541EF823683B}" destId="{0630879E-F776-4B62-BD4F-80F79FE76868}" srcOrd="0" destOrd="0" presId="urn:microsoft.com/office/officeart/2005/8/layout/vList2"/>
    <dgm:cxn modelId="{1EB0446F-0130-4190-B341-7E454B26DA84}" type="presOf" srcId="{F06447E7-36C1-4B1C-9425-912250C36667}" destId="{0630879E-F776-4B62-BD4F-80F79FE76868}" srcOrd="0" destOrd="1" presId="urn:microsoft.com/office/officeart/2005/8/layout/vList2"/>
    <dgm:cxn modelId="{B1C2F086-4264-47A1-A9DB-F20985D4239F}" type="presOf" srcId="{CB1200A2-EFDE-44D2-8EB8-F7CC74802ADA}" destId="{5C29C085-455C-45E6-9B88-42CE8E469AD4}" srcOrd="0" destOrd="0" presId="urn:microsoft.com/office/officeart/2005/8/layout/vList2"/>
    <dgm:cxn modelId="{7CA5F0B2-088E-4C1B-AB49-4418BE25EE45}" type="presOf" srcId="{DA0C4E4F-6A4B-403F-9EAE-BBB338986814}" destId="{B10681E4-0545-41CC-9584-D0681D91388A}" srcOrd="0" destOrd="0" presId="urn:microsoft.com/office/officeart/2005/8/layout/vList2"/>
    <dgm:cxn modelId="{CDD898B6-A5B6-4A67-B165-89291130EF50}" type="presOf" srcId="{ED2DC0CB-4A6B-4F92-9197-2CA756E5EC15}" destId="{0630879E-F776-4B62-BD4F-80F79FE76868}" srcOrd="0" destOrd="2" presId="urn:microsoft.com/office/officeart/2005/8/layout/vList2"/>
    <dgm:cxn modelId="{B34EA9CA-2A14-4A72-9442-3D9611CA96B4}" srcId="{CB1200A2-EFDE-44D2-8EB8-F7CC74802ADA}" destId="{F06447E7-36C1-4B1C-9425-912250C36667}" srcOrd="1" destOrd="0" parTransId="{C1B439C3-C707-49CD-8FD7-FD9C29E059E0}" sibTransId="{E99608DF-50C1-41D1-BBC6-9F774768F951}"/>
    <dgm:cxn modelId="{1B6DE6D9-E395-4722-94F6-50A8BCE39528}" type="presOf" srcId="{E49E8AEE-A181-4E19-B6B6-14090C04337B}" destId="{889AD54B-F642-4449-BC41-85DFF9AEA7FD}" srcOrd="0" destOrd="0" presId="urn:microsoft.com/office/officeart/2005/8/layout/vList2"/>
    <dgm:cxn modelId="{F4ACB0E1-D0FA-4B2C-8287-1FBC0C83B25D}" srcId="{E49E8AEE-A181-4E19-B6B6-14090C04337B}" destId="{DA0C4E4F-6A4B-403F-9EAE-BBB338986814}" srcOrd="1" destOrd="0" parTransId="{106DD8F2-0271-4D59-90FD-35B953B6F996}" sibTransId="{857D2845-1FB8-4912-8801-183A1F81F1FB}"/>
    <dgm:cxn modelId="{842644EE-239E-4BE8-BAE9-72D18F3E6737}" srcId="{E49E8AEE-A181-4E19-B6B6-14090C04337B}" destId="{CB1200A2-EFDE-44D2-8EB8-F7CC74802ADA}" srcOrd="0" destOrd="0" parTransId="{674BC386-9DC1-4091-BD8F-71D8C0305156}" sibTransId="{18B7EC0E-5573-4F09-8E7E-D314EC10A275}"/>
    <dgm:cxn modelId="{8BD70EF9-D1E9-48A0-A8AC-96523C1EEF92}" srcId="{CB1200A2-EFDE-44D2-8EB8-F7CC74802ADA}" destId="{ED2DC0CB-4A6B-4F92-9197-2CA756E5EC15}" srcOrd="2" destOrd="0" parTransId="{87D1BA49-FA90-49E3-B1D1-2CB3EB374D82}" sibTransId="{A075A561-5EC7-4D69-BF26-0AF1BECEC912}"/>
    <dgm:cxn modelId="{106B178E-A1DA-40D4-B532-AE8BCC4D889F}" type="presParOf" srcId="{889AD54B-F642-4449-BC41-85DFF9AEA7FD}" destId="{5C29C085-455C-45E6-9B88-42CE8E469AD4}" srcOrd="0" destOrd="0" presId="urn:microsoft.com/office/officeart/2005/8/layout/vList2"/>
    <dgm:cxn modelId="{3A459D78-0FF7-40CF-97D8-14FFB6A0E6EA}" type="presParOf" srcId="{889AD54B-F642-4449-BC41-85DFF9AEA7FD}" destId="{0630879E-F776-4B62-BD4F-80F79FE76868}" srcOrd="1" destOrd="0" presId="urn:microsoft.com/office/officeart/2005/8/layout/vList2"/>
    <dgm:cxn modelId="{D1621881-E8FD-4328-A409-719B9AF4599C}" type="presParOf" srcId="{889AD54B-F642-4449-BC41-85DFF9AEA7FD}" destId="{B10681E4-0545-41CC-9584-D0681D91388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C6A76B-ECB9-45A9-8341-D70F078A0064}" type="doc">
      <dgm:prSet loTypeId="urn:microsoft.com/office/officeart/2005/8/layout/matrix3" loCatId="matrix" qsTypeId="urn:microsoft.com/office/officeart/2005/8/quickstyle/simple1" qsCatId="simple" csTypeId="urn:microsoft.com/office/officeart/2005/8/colors/accent3_2" csCatId="accent3" phldr="1"/>
      <dgm:spPr/>
      <dgm:t>
        <a:bodyPr/>
        <a:lstStyle/>
        <a:p>
          <a:endParaRPr lang="en-US"/>
        </a:p>
      </dgm:t>
    </dgm:pt>
    <dgm:pt modelId="{F202909E-93FD-43DD-97EB-C97A06B6B405}">
      <dgm:prSet/>
      <dgm:spPr/>
      <dgm:t>
        <a:bodyPr/>
        <a:lstStyle/>
        <a:p>
          <a:r>
            <a:rPr lang="en-US" b="1"/>
            <a:t>Features:</a:t>
          </a:r>
        </a:p>
        <a:p>
          <a:r>
            <a:rPr lang="en-US" b="1"/>
            <a:t>- </a:t>
          </a:r>
          <a:r>
            <a:rPr lang="en-US"/>
            <a:t>X Cell Size</a:t>
          </a:r>
        </a:p>
        <a:p>
          <a:r>
            <a:rPr lang="en-US" b="1"/>
            <a:t>-</a:t>
          </a:r>
          <a:r>
            <a:rPr lang="en-US"/>
            <a:t> Y/Z Cell size</a:t>
          </a:r>
        </a:p>
        <a:p>
          <a:r>
            <a:rPr lang="en-US" b="1"/>
            <a:t>-</a:t>
          </a:r>
          <a:r>
            <a:rPr lang="en-US"/>
            <a:t> Inlet Velocity</a:t>
          </a:r>
        </a:p>
      </dgm:t>
    </dgm:pt>
    <dgm:pt modelId="{01D3DA9B-D32F-40BB-B067-1D9A63AFEC35}" type="parTrans" cxnId="{0838FCDB-2BBE-4F1D-B182-2F568F2C743A}">
      <dgm:prSet/>
      <dgm:spPr/>
      <dgm:t>
        <a:bodyPr/>
        <a:lstStyle/>
        <a:p>
          <a:endParaRPr lang="en-US"/>
        </a:p>
      </dgm:t>
    </dgm:pt>
    <dgm:pt modelId="{EFE862E4-A438-4A5A-AF9F-14635D99AF8B}" type="sibTrans" cxnId="{0838FCDB-2BBE-4F1D-B182-2F568F2C743A}">
      <dgm:prSet/>
      <dgm:spPr/>
      <dgm:t>
        <a:bodyPr/>
        <a:lstStyle/>
        <a:p>
          <a:endParaRPr lang="en-US"/>
        </a:p>
      </dgm:t>
    </dgm:pt>
    <dgm:pt modelId="{F0930AB9-3605-4EED-9784-C45ACFD9B9F2}">
      <dgm:prSet/>
      <dgm:spPr/>
      <dgm:t>
        <a:bodyPr/>
        <a:lstStyle/>
        <a:p>
          <a:r>
            <a:rPr lang="en-US" b="1"/>
            <a:t>Targets:</a:t>
          </a:r>
        </a:p>
        <a:p>
          <a:r>
            <a:rPr lang="en-US" b="1"/>
            <a:t>- </a:t>
          </a:r>
          <a:r>
            <a:rPr lang="en-US"/>
            <a:t>Pressure Drop </a:t>
          </a:r>
        </a:p>
        <a:p>
          <a:r>
            <a:rPr lang="en-US" b="1"/>
            <a:t>-</a:t>
          </a:r>
          <a:r>
            <a:rPr lang="en-US"/>
            <a:t> Avg. Velocity </a:t>
          </a:r>
        </a:p>
        <a:p>
          <a:r>
            <a:rPr lang="en-US" b="1"/>
            <a:t>-</a:t>
          </a:r>
          <a:r>
            <a:rPr lang="en-US"/>
            <a:t> Surface Area </a:t>
          </a:r>
        </a:p>
        <a:p>
          <a:r>
            <a:rPr lang="en-US" b="1"/>
            <a:t>-</a:t>
          </a:r>
          <a:r>
            <a:rPr lang="en-US"/>
            <a:t> Mass</a:t>
          </a:r>
        </a:p>
      </dgm:t>
    </dgm:pt>
    <dgm:pt modelId="{6E824D23-1174-4E72-851E-931EE7720F24}" type="parTrans" cxnId="{0BAEBAA9-BF95-4927-BC54-47CFDC616D7C}">
      <dgm:prSet/>
      <dgm:spPr/>
      <dgm:t>
        <a:bodyPr/>
        <a:lstStyle/>
        <a:p>
          <a:endParaRPr lang="en-US"/>
        </a:p>
      </dgm:t>
    </dgm:pt>
    <dgm:pt modelId="{D5196E11-2079-4F52-BEF6-2A281C0C04C7}" type="sibTrans" cxnId="{0BAEBAA9-BF95-4927-BC54-47CFDC616D7C}">
      <dgm:prSet/>
      <dgm:spPr/>
      <dgm:t>
        <a:bodyPr/>
        <a:lstStyle/>
        <a:p>
          <a:endParaRPr lang="en-US"/>
        </a:p>
      </dgm:t>
    </dgm:pt>
    <dgm:pt modelId="{7F61C8CA-10A7-4A33-A63F-2CE08828B4FF}">
      <dgm:prSet/>
      <dgm:spPr/>
      <dgm:t>
        <a:bodyPr/>
        <a:lstStyle/>
        <a:p>
          <a:r>
            <a:rPr lang="en-US" b="1"/>
            <a:t>Scaling:</a:t>
          </a:r>
        </a:p>
        <a:p>
          <a:r>
            <a:rPr lang="en-US" b="1"/>
            <a:t> </a:t>
          </a:r>
          <a:r>
            <a:rPr lang="en-US" err="1"/>
            <a:t>MinMaxScaler</a:t>
          </a:r>
          <a:r>
            <a:rPr lang="en-US"/>
            <a:t> applied to both inputs and outputs</a:t>
          </a:r>
        </a:p>
      </dgm:t>
    </dgm:pt>
    <dgm:pt modelId="{7928E95A-8B6B-4251-8020-A48CF4F0C39A}" type="parTrans" cxnId="{A23E7A2C-88D8-4BE0-B376-AFD226C84FD3}">
      <dgm:prSet/>
      <dgm:spPr/>
      <dgm:t>
        <a:bodyPr/>
        <a:lstStyle/>
        <a:p>
          <a:endParaRPr lang="en-US"/>
        </a:p>
      </dgm:t>
    </dgm:pt>
    <dgm:pt modelId="{8255CBFB-B5EA-4626-A2CE-D4547206D7E3}" type="sibTrans" cxnId="{A23E7A2C-88D8-4BE0-B376-AFD226C84FD3}">
      <dgm:prSet/>
      <dgm:spPr/>
      <dgm:t>
        <a:bodyPr/>
        <a:lstStyle/>
        <a:p>
          <a:endParaRPr lang="en-US"/>
        </a:p>
      </dgm:t>
    </dgm:pt>
    <dgm:pt modelId="{6B8AFACD-4E7D-4597-8DFD-5174781B4120}">
      <dgm:prSet/>
      <dgm:spPr/>
      <dgm:t>
        <a:bodyPr/>
        <a:lstStyle/>
        <a:p>
          <a:r>
            <a:rPr lang="en-US" b="1"/>
            <a:t>Split: </a:t>
          </a:r>
        </a:p>
        <a:p>
          <a:r>
            <a:rPr lang="en-US"/>
            <a:t>90% training  10% validation</a:t>
          </a:r>
        </a:p>
      </dgm:t>
    </dgm:pt>
    <dgm:pt modelId="{2587F504-5D3D-4C44-9253-8AB4AEFA804D}" type="parTrans" cxnId="{A9779B50-540F-44E9-840D-9D7E0D1FECFB}">
      <dgm:prSet/>
      <dgm:spPr/>
      <dgm:t>
        <a:bodyPr/>
        <a:lstStyle/>
        <a:p>
          <a:endParaRPr lang="en-US"/>
        </a:p>
      </dgm:t>
    </dgm:pt>
    <dgm:pt modelId="{E6DB8CE3-CE54-4021-8319-9C16A2CD5535}" type="sibTrans" cxnId="{A9779B50-540F-44E9-840D-9D7E0D1FECFB}">
      <dgm:prSet/>
      <dgm:spPr/>
      <dgm:t>
        <a:bodyPr/>
        <a:lstStyle/>
        <a:p>
          <a:endParaRPr lang="en-US"/>
        </a:p>
      </dgm:t>
    </dgm:pt>
    <dgm:pt modelId="{89858E84-15F4-4E21-A487-9DAB98DBFEAC}" type="pres">
      <dgm:prSet presAssocID="{ABC6A76B-ECB9-45A9-8341-D70F078A0064}" presName="matrix" presStyleCnt="0">
        <dgm:presLayoutVars>
          <dgm:chMax val="1"/>
          <dgm:dir/>
          <dgm:resizeHandles val="exact"/>
        </dgm:presLayoutVars>
      </dgm:prSet>
      <dgm:spPr/>
    </dgm:pt>
    <dgm:pt modelId="{2D43969C-254E-4161-8AAA-43C8A1351C96}" type="pres">
      <dgm:prSet presAssocID="{ABC6A76B-ECB9-45A9-8341-D70F078A0064}" presName="diamond" presStyleLbl="bgShp" presStyleIdx="0" presStyleCnt="1"/>
      <dgm:spPr/>
    </dgm:pt>
    <dgm:pt modelId="{94B9BF0D-D347-4273-B0E6-8D806E8DDCFF}" type="pres">
      <dgm:prSet presAssocID="{ABC6A76B-ECB9-45A9-8341-D70F078A0064}" presName="quad1" presStyleLbl="node1" presStyleIdx="0" presStyleCnt="4">
        <dgm:presLayoutVars>
          <dgm:chMax val="0"/>
          <dgm:chPref val="0"/>
          <dgm:bulletEnabled val="1"/>
        </dgm:presLayoutVars>
      </dgm:prSet>
      <dgm:spPr/>
    </dgm:pt>
    <dgm:pt modelId="{B199F094-EC47-43D7-B719-F2A8A429DD97}" type="pres">
      <dgm:prSet presAssocID="{ABC6A76B-ECB9-45A9-8341-D70F078A0064}" presName="quad2" presStyleLbl="node1" presStyleIdx="1" presStyleCnt="4">
        <dgm:presLayoutVars>
          <dgm:chMax val="0"/>
          <dgm:chPref val="0"/>
          <dgm:bulletEnabled val="1"/>
        </dgm:presLayoutVars>
      </dgm:prSet>
      <dgm:spPr/>
    </dgm:pt>
    <dgm:pt modelId="{6EC44163-DAAB-4E1A-96B8-931142CFCCA9}" type="pres">
      <dgm:prSet presAssocID="{ABC6A76B-ECB9-45A9-8341-D70F078A0064}" presName="quad3" presStyleLbl="node1" presStyleIdx="2" presStyleCnt="4">
        <dgm:presLayoutVars>
          <dgm:chMax val="0"/>
          <dgm:chPref val="0"/>
          <dgm:bulletEnabled val="1"/>
        </dgm:presLayoutVars>
      </dgm:prSet>
      <dgm:spPr/>
    </dgm:pt>
    <dgm:pt modelId="{13F4592C-6DBA-4B69-84EC-E1DC8B79E561}" type="pres">
      <dgm:prSet presAssocID="{ABC6A76B-ECB9-45A9-8341-D70F078A0064}" presName="quad4" presStyleLbl="node1" presStyleIdx="3" presStyleCnt="4">
        <dgm:presLayoutVars>
          <dgm:chMax val="0"/>
          <dgm:chPref val="0"/>
          <dgm:bulletEnabled val="1"/>
        </dgm:presLayoutVars>
      </dgm:prSet>
      <dgm:spPr/>
    </dgm:pt>
  </dgm:ptLst>
  <dgm:cxnLst>
    <dgm:cxn modelId="{B12A9700-34CF-4093-BEC1-483DD43CF072}" type="presOf" srcId="{ABC6A76B-ECB9-45A9-8341-D70F078A0064}" destId="{89858E84-15F4-4E21-A487-9DAB98DBFEAC}" srcOrd="0" destOrd="0" presId="urn:microsoft.com/office/officeart/2005/8/layout/matrix3"/>
    <dgm:cxn modelId="{A23E7A2C-88D8-4BE0-B376-AFD226C84FD3}" srcId="{ABC6A76B-ECB9-45A9-8341-D70F078A0064}" destId="{7F61C8CA-10A7-4A33-A63F-2CE08828B4FF}" srcOrd="2" destOrd="0" parTransId="{7928E95A-8B6B-4251-8020-A48CF4F0C39A}" sibTransId="{8255CBFB-B5EA-4626-A2CE-D4547206D7E3}"/>
    <dgm:cxn modelId="{9E4AC863-73A3-4826-8725-93AD2AD534CD}" type="presOf" srcId="{7F61C8CA-10A7-4A33-A63F-2CE08828B4FF}" destId="{6EC44163-DAAB-4E1A-96B8-931142CFCCA9}" srcOrd="0" destOrd="0" presId="urn:microsoft.com/office/officeart/2005/8/layout/matrix3"/>
    <dgm:cxn modelId="{1F9B8070-B899-4BEE-8E6C-3C704C071BEE}" type="presOf" srcId="{6B8AFACD-4E7D-4597-8DFD-5174781B4120}" destId="{13F4592C-6DBA-4B69-84EC-E1DC8B79E561}" srcOrd="0" destOrd="0" presId="urn:microsoft.com/office/officeart/2005/8/layout/matrix3"/>
    <dgm:cxn modelId="{A9779B50-540F-44E9-840D-9D7E0D1FECFB}" srcId="{ABC6A76B-ECB9-45A9-8341-D70F078A0064}" destId="{6B8AFACD-4E7D-4597-8DFD-5174781B4120}" srcOrd="3" destOrd="0" parTransId="{2587F504-5D3D-4C44-9253-8AB4AEFA804D}" sibTransId="{E6DB8CE3-CE54-4021-8319-9C16A2CD5535}"/>
    <dgm:cxn modelId="{9467B075-550B-4138-9EE3-DB76B65CEB7F}" type="presOf" srcId="{F202909E-93FD-43DD-97EB-C97A06B6B405}" destId="{94B9BF0D-D347-4273-B0E6-8D806E8DDCFF}" srcOrd="0" destOrd="0" presId="urn:microsoft.com/office/officeart/2005/8/layout/matrix3"/>
    <dgm:cxn modelId="{CF037084-A021-4314-B11E-CA8B55B6D6F0}" type="presOf" srcId="{F0930AB9-3605-4EED-9784-C45ACFD9B9F2}" destId="{B199F094-EC47-43D7-B719-F2A8A429DD97}" srcOrd="0" destOrd="0" presId="urn:microsoft.com/office/officeart/2005/8/layout/matrix3"/>
    <dgm:cxn modelId="{0BAEBAA9-BF95-4927-BC54-47CFDC616D7C}" srcId="{ABC6A76B-ECB9-45A9-8341-D70F078A0064}" destId="{F0930AB9-3605-4EED-9784-C45ACFD9B9F2}" srcOrd="1" destOrd="0" parTransId="{6E824D23-1174-4E72-851E-931EE7720F24}" sibTransId="{D5196E11-2079-4F52-BEF6-2A281C0C04C7}"/>
    <dgm:cxn modelId="{0838FCDB-2BBE-4F1D-B182-2F568F2C743A}" srcId="{ABC6A76B-ECB9-45A9-8341-D70F078A0064}" destId="{F202909E-93FD-43DD-97EB-C97A06B6B405}" srcOrd="0" destOrd="0" parTransId="{01D3DA9B-D32F-40BB-B067-1D9A63AFEC35}" sibTransId="{EFE862E4-A438-4A5A-AF9F-14635D99AF8B}"/>
    <dgm:cxn modelId="{8AA2C669-BA59-4F46-9561-2FC7F31DBEC0}" type="presParOf" srcId="{89858E84-15F4-4E21-A487-9DAB98DBFEAC}" destId="{2D43969C-254E-4161-8AAA-43C8A1351C96}" srcOrd="0" destOrd="0" presId="urn:microsoft.com/office/officeart/2005/8/layout/matrix3"/>
    <dgm:cxn modelId="{48178489-DD21-4CCD-930E-788369370120}" type="presParOf" srcId="{89858E84-15F4-4E21-A487-9DAB98DBFEAC}" destId="{94B9BF0D-D347-4273-B0E6-8D806E8DDCFF}" srcOrd="1" destOrd="0" presId="urn:microsoft.com/office/officeart/2005/8/layout/matrix3"/>
    <dgm:cxn modelId="{6EA44A45-4AA2-4258-9877-1CA97A6E71DF}" type="presParOf" srcId="{89858E84-15F4-4E21-A487-9DAB98DBFEAC}" destId="{B199F094-EC47-43D7-B719-F2A8A429DD97}" srcOrd="2" destOrd="0" presId="urn:microsoft.com/office/officeart/2005/8/layout/matrix3"/>
    <dgm:cxn modelId="{1E85A657-87C4-4DE3-ABF5-A23924B4F297}" type="presParOf" srcId="{89858E84-15F4-4E21-A487-9DAB98DBFEAC}" destId="{6EC44163-DAAB-4E1A-96B8-931142CFCCA9}" srcOrd="3" destOrd="0" presId="urn:microsoft.com/office/officeart/2005/8/layout/matrix3"/>
    <dgm:cxn modelId="{EF69B1A5-E4F2-45F1-8851-A6A994B2B0A9}" type="presParOf" srcId="{89858E84-15F4-4E21-A487-9DAB98DBFEAC}" destId="{13F4592C-6DBA-4B69-84EC-E1DC8B79E56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FF4C07-E2C6-470B-9EAE-545E1AD2421F}"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EEE30365-F211-4187-B49F-B62CA47B0232}">
      <dgm:prSet/>
      <dgm:spPr/>
      <dgm:t>
        <a:bodyPr/>
        <a:lstStyle/>
        <a:p>
          <a:r>
            <a:rPr lang="en-US" b="1"/>
            <a:t>Framework: </a:t>
          </a:r>
          <a:r>
            <a:rPr lang="en-US"/>
            <a:t>Tensorflow + Keras Tuner</a:t>
          </a:r>
        </a:p>
      </dgm:t>
    </dgm:pt>
    <dgm:pt modelId="{8F3519DB-F067-4FEF-8B65-7DA4BD74EB32}" type="parTrans" cxnId="{6256D6E7-3D62-46DA-B2FC-D664FE105A09}">
      <dgm:prSet/>
      <dgm:spPr/>
      <dgm:t>
        <a:bodyPr/>
        <a:lstStyle/>
        <a:p>
          <a:endParaRPr lang="en-US"/>
        </a:p>
      </dgm:t>
    </dgm:pt>
    <dgm:pt modelId="{641459A3-0D8E-445C-A533-B420753CA045}" type="sibTrans" cxnId="{6256D6E7-3D62-46DA-B2FC-D664FE105A09}">
      <dgm:prSet/>
      <dgm:spPr/>
      <dgm:t>
        <a:bodyPr/>
        <a:lstStyle/>
        <a:p>
          <a:endParaRPr lang="en-US"/>
        </a:p>
      </dgm:t>
    </dgm:pt>
    <dgm:pt modelId="{2C03571C-5E76-43DB-A94A-1377CE93612E}">
      <dgm:prSet/>
      <dgm:spPr/>
      <dgm:t>
        <a:bodyPr/>
        <a:lstStyle/>
        <a:p>
          <a:r>
            <a:rPr lang="en-US" b="1"/>
            <a:t>Model Type: </a:t>
          </a:r>
          <a:r>
            <a:rPr lang="en-US"/>
            <a:t>Multi-layer Perceptron (MLP)</a:t>
          </a:r>
        </a:p>
      </dgm:t>
    </dgm:pt>
    <dgm:pt modelId="{6C400902-ED5D-4171-B069-5519025B5E32}" type="parTrans" cxnId="{3D51E49F-0213-4435-B203-40F2BE258484}">
      <dgm:prSet/>
      <dgm:spPr/>
      <dgm:t>
        <a:bodyPr/>
        <a:lstStyle/>
        <a:p>
          <a:endParaRPr lang="en-US"/>
        </a:p>
      </dgm:t>
    </dgm:pt>
    <dgm:pt modelId="{620BEE1E-DCFA-429F-9313-C540BC1D9B71}" type="sibTrans" cxnId="{3D51E49F-0213-4435-B203-40F2BE258484}">
      <dgm:prSet/>
      <dgm:spPr/>
      <dgm:t>
        <a:bodyPr/>
        <a:lstStyle/>
        <a:p>
          <a:endParaRPr lang="en-US"/>
        </a:p>
      </dgm:t>
    </dgm:pt>
    <dgm:pt modelId="{A115DB54-E1F6-4D3E-9302-CF021B390149}">
      <dgm:prSet/>
      <dgm:spPr/>
      <dgm:t>
        <a:bodyPr/>
        <a:lstStyle/>
        <a:p>
          <a:r>
            <a:rPr lang="en-US" b="1"/>
            <a:t>Hyperparameter Tuning: </a:t>
          </a:r>
          <a:endParaRPr lang="en-US"/>
        </a:p>
      </dgm:t>
    </dgm:pt>
    <dgm:pt modelId="{1FB77D19-115C-46AB-AB8C-BB0D169424FE}" type="parTrans" cxnId="{DFDEC717-5C19-423D-B506-999B8FD1640A}">
      <dgm:prSet/>
      <dgm:spPr/>
      <dgm:t>
        <a:bodyPr/>
        <a:lstStyle/>
        <a:p>
          <a:endParaRPr lang="en-US"/>
        </a:p>
      </dgm:t>
    </dgm:pt>
    <dgm:pt modelId="{228B69F7-C18F-4CB8-8495-5EBECC30B914}" type="sibTrans" cxnId="{DFDEC717-5C19-423D-B506-999B8FD1640A}">
      <dgm:prSet/>
      <dgm:spPr/>
      <dgm:t>
        <a:bodyPr/>
        <a:lstStyle/>
        <a:p>
          <a:endParaRPr lang="en-US"/>
        </a:p>
      </dgm:t>
    </dgm:pt>
    <dgm:pt modelId="{36886523-00C4-47A0-96E8-AF9793BF4957}">
      <dgm:prSet/>
      <dgm:spPr/>
      <dgm:t>
        <a:bodyPr/>
        <a:lstStyle/>
        <a:p>
          <a:r>
            <a:rPr lang="en-US" b="1"/>
            <a:t>Layers: </a:t>
          </a:r>
          <a:r>
            <a:rPr lang="en-US"/>
            <a:t>2-6</a:t>
          </a:r>
        </a:p>
      </dgm:t>
    </dgm:pt>
    <dgm:pt modelId="{5C14B2F3-D877-4610-B3E6-DBC2433135AA}" type="parTrans" cxnId="{CB98B424-B5CB-42D8-978E-5BD03B3FE177}">
      <dgm:prSet/>
      <dgm:spPr/>
      <dgm:t>
        <a:bodyPr/>
        <a:lstStyle/>
        <a:p>
          <a:endParaRPr lang="en-US"/>
        </a:p>
      </dgm:t>
    </dgm:pt>
    <dgm:pt modelId="{F90B7A55-350D-4BD1-9E44-B97BC997F126}" type="sibTrans" cxnId="{CB98B424-B5CB-42D8-978E-5BD03B3FE177}">
      <dgm:prSet/>
      <dgm:spPr/>
      <dgm:t>
        <a:bodyPr/>
        <a:lstStyle/>
        <a:p>
          <a:endParaRPr lang="en-US"/>
        </a:p>
      </dgm:t>
    </dgm:pt>
    <dgm:pt modelId="{CBEC7BA1-93D0-4C43-8939-66AD61094DFA}">
      <dgm:prSet/>
      <dgm:spPr/>
      <dgm:t>
        <a:bodyPr/>
        <a:lstStyle/>
        <a:p>
          <a:r>
            <a:rPr lang="en-US" b="1"/>
            <a:t>Units/layer: </a:t>
          </a:r>
          <a:r>
            <a:rPr lang="en-US"/>
            <a:t>32-1024</a:t>
          </a:r>
        </a:p>
      </dgm:t>
    </dgm:pt>
    <dgm:pt modelId="{7EB6D59A-6676-46E7-A9FD-5F528BD1B807}" type="parTrans" cxnId="{FE9E6AF6-2E2A-4388-8946-DCD017C3B3B9}">
      <dgm:prSet/>
      <dgm:spPr/>
      <dgm:t>
        <a:bodyPr/>
        <a:lstStyle/>
        <a:p>
          <a:endParaRPr lang="en-US"/>
        </a:p>
      </dgm:t>
    </dgm:pt>
    <dgm:pt modelId="{F2C7A4FA-4048-4004-AEFD-00B50C237F10}" type="sibTrans" cxnId="{FE9E6AF6-2E2A-4388-8946-DCD017C3B3B9}">
      <dgm:prSet/>
      <dgm:spPr/>
      <dgm:t>
        <a:bodyPr/>
        <a:lstStyle/>
        <a:p>
          <a:endParaRPr lang="en-US"/>
        </a:p>
      </dgm:t>
    </dgm:pt>
    <dgm:pt modelId="{AF68F50C-CF7A-4BF4-B3E2-C182526A28DD}">
      <dgm:prSet/>
      <dgm:spPr/>
      <dgm:t>
        <a:bodyPr/>
        <a:lstStyle/>
        <a:p>
          <a:r>
            <a:rPr lang="en-US" b="1"/>
            <a:t>Activations:</a:t>
          </a:r>
          <a:r>
            <a:rPr lang="en-US"/>
            <a:t> ReLU, Tanh, ELU</a:t>
          </a:r>
        </a:p>
      </dgm:t>
    </dgm:pt>
    <dgm:pt modelId="{D76F14A7-F685-4765-B5C5-0BC096D5BF2B}" type="parTrans" cxnId="{883B7C95-A084-4A2D-AAFD-181F01DCDA3C}">
      <dgm:prSet/>
      <dgm:spPr/>
      <dgm:t>
        <a:bodyPr/>
        <a:lstStyle/>
        <a:p>
          <a:endParaRPr lang="en-US"/>
        </a:p>
      </dgm:t>
    </dgm:pt>
    <dgm:pt modelId="{D3DEC2A7-3383-4390-BB8F-83947C96DEE4}" type="sibTrans" cxnId="{883B7C95-A084-4A2D-AAFD-181F01DCDA3C}">
      <dgm:prSet/>
      <dgm:spPr/>
      <dgm:t>
        <a:bodyPr/>
        <a:lstStyle/>
        <a:p>
          <a:endParaRPr lang="en-US"/>
        </a:p>
      </dgm:t>
    </dgm:pt>
    <dgm:pt modelId="{AB09B282-2B13-48FB-847D-3AB9CAB87759}">
      <dgm:prSet/>
      <dgm:spPr/>
      <dgm:t>
        <a:bodyPr/>
        <a:lstStyle/>
        <a:p>
          <a:r>
            <a:rPr lang="en-US" b="1"/>
            <a:t>Dropout:</a:t>
          </a:r>
          <a:r>
            <a:rPr lang="en-US"/>
            <a:t> 0.0–0.5</a:t>
          </a:r>
        </a:p>
      </dgm:t>
    </dgm:pt>
    <dgm:pt modelId="{95E435A9-78DC-4C7B-8794-447CAA0CF0AC}" type="parTrans" cxnId="{DAE9C2EA-C959-4157-8D01-CD68DB5ADB0E}">
      <dgm:prSet/>
      <dgm:spPr/>
      <dgm:t>
        <a:bodyPr/>
        <a:lstStyle/>
        <a:p>
          <a:endParaRPr lang="en-US"/>
        </a:p>
      </dgm:t>
    </dgm:pt>
    <dgm:pt modelId="{8F7288FF-2C1A-47B1-BEF3-FE848B9DA095}" type="sibTrans" cxnId="{DAE9C2EA-C959-4157-8D01-CD68DB5ADB0E}">
      <dgm:prSet/>
      <dgm:spPr/>
      <dgm:t>
        <a:bodyPr/>
        <a:lstStyle/>
        <a:p>
          <a:endParaRPr lang="en-US"/>
        </a:p>
      </dgm:t>
    </dgm:pt>
    <dgm:pt modelId="{90F05EB8-4814-4683-A077-13856E7EBCD8}">
      <dgm:prSet/>
      <dgm:spPr/>
      <dgm:t>
        <a:bodyPr/>
        <a:lstStyle/>
        <a:p>
          <a:r>
            <a:rPr lang="en-US" b="1"/>
            <a:t>Learning Rate:</a:t>
          </a:r>
          <a:r>
            <a:rPr lang="en-US"/>
            <a:t> 1e-2 to 5e-5</a:t>
          </a:r>
        </a:p>
      </dgm:t>
    </dgm:pt>
    <dgm:pt modelId="{6F839932-B5C0-48C0-9898-B63600A30C70}" type="parTrans" cxnId="{3813D77C-AFD5-4689-9B89-F5313F94CDFE}">
      <dgm:prSet/>
      <dgm:spPr/>
      <dgm:t>
        <a:bodyPr/>
        <a:lstStyle/>
        <a:p>
          <a:endParaRPr lang="en-US"/>
        </a:p>
      </dgm:t>
    </dgm:pt>
    <dgm:pt modelId="{0F7B01D5-3764-44F8-92F4-520AD9864893}" type="sibTrans" cxnId="{3813D77C-AFD5-4689-9B89-F5313F94CDFE}">
      <dgm:prSet/>
      <dgm:spPr/>
      <dgm:t>
        <a:bodyPr/>
        <a:lstStyle/>
        <a:p>
          <a:endParaRPr lang="en-US"/>
        </a:p>
      </dgm:t>
    </dgm:pt>
    <dgm:pt modelId="{C4DEC525-D0B7-4C9D-8094-A6F56A808F41}">
      <dgm:prSet/>
      <dgm:spPr/>
      <dgm:t>
        <a:bodyPr/>
        <a:lstStyle/>
        <a:p>
          <a:r>
            <a:rPr lang="en-US" b="1"/>
            <a:t>Early Stopping:</a:t>
          </a:r>
          <a:r>
            <a:rPr lang="en-US"/>
            <a:t> Prevent overfitting</a:t>
          </a:r>
        </a:p>
      </dgm:t>
    </dgm:pt>
    <dgm:pt modelId="{37504719-3103-48C3-B044-30DA16DF8D99}" type="parTrans" cxnId="{6C17C0F2-E094-4D55-B6E8-86753BC87BD7}">
      <dgm:prSet/>
      <dgm:spPr/>
      <dgm:t>
        <a:bodyPr/>
        <a:lstStyle/>
        <a:p>
          <a:endParaRPr lang="en-US"/>
        </a:p>
      </dgm:t>
    </dgm:pt>
    <dgm:pt modelId="{E3B32036-E857-42AB-B647-533449B32BAA}" type="sibTrans" cxnId="{6C17C0F2-E094-4D55-B6E8-86753BC87BD7}">
      <dgm:prSet/>
      <dgm:spPr/>
      <dgm:t>
        <a:bodyPr/>
        <a:lstStyle/>
        <a:p>
          <a:endParaRPr lang="en-US"/>
        </a:p>
      </dgm:t>
    </dgm:pt>
    <dgm:pt modelId="{5172ED39-554B-4E79-B354-3AE388B533C1}" type="pres">
      <dgm:prSet presAssocID="{24FF4C07-E2C6-470B-9EAE-545E1AD2421F}" presName="linear" presStyleCnt="0">
        <dgm:presLayoutVars>
          <dgm:dir/>
          <dgm:animLvl val="lvl"/>
          <dgm:resizeHandles val="exact"/>
        </dgm:presLayoutVars>
      </dgm:prSet>
      <dgm:spPr/>
    </dgm:pt>
    <dgm:pt modelId="{9D02E6B0-CABF-4C99-90CF-B6868EC78063}" type="pres">
      <dgm:prSet presAssocID="{EEE30365-F211-4187-B49F-B62CA47B0232}" presName="parentLin" presStyleCnt="0"/>
      <dgm:spPr/>
    </dgm:pt>
    <dgm:pt modelId="{0A958C28-570B-463D-A962-D2B3C050902E}" type="pres">
      <dgm:prSet presAssocID="{EEE30365-F211-4187-B49F-B62CA47B0232}" presName="parentLeftMargin" presStyleLbl="node1" presStyleIdx="0" presStyleCnt="4"/>
      <dgm:spPr/>
    </dgm:pt>
    <dgm:pt modelId="{7633E26B-3604-4F9F-B689-499849512E61}" type="pres">
      <dgm:prSet presAssocID="{EEE30365-F211-4187-B49F-B62CA47B0232}" presName="parentText" presStyleLbl="node1" presStyleIdx="0" presStyleCnt="4">
        <dgm:presLayoutVars>
          <dgm:chMax val="0"/>
          <dgm:bulletEnabled val="1"/>
        </dgm:presLayoutVars>
      </dgm:prSet>
      <dgm:spPr/>
    </dgm:pt>
    <dgm:pt modelId="{F36BFC44-AB7B-46FA-A3ED-A22844815372}" type="pres">
      <dgm:prSet presAssocID="{EEE30365-F211-4187-B49F-B62CA47B0232}" presName="negativeSpace" presStyleCnt="0"/>
      <dgm:spPr/>
    </dgm:pt>
    <dgm:pt modelId="{86060E36-1F98-4354-B7CA-277290BEC777}" type="pres">
      <dgm:prSet presAssocID="{EEE30365-F211-4187-B49F-B62CA47B0232}" presName="childText" presStyleLbl="conFgAcc1" presStyleIdx="0" presStyleCnt="4">
        <dgm:presLayoutVars>
          <dgm:bulletEnabled val="1"/>
        </dgm:presLayoutVars>
      </dgm:prSet>
      <dgm:spPr/>
    </dgm:pt>
    <dgm:pt modelId="{AA4C76A1-B3C4-4EBA-B51A-97638B892F35}" type="pres">
      <dgm:prSet presAssocID="{641459A3-0D8E-445C-A533-B420753CA045}" presName="spaceBetweenRectangles" presStyleCnt="0"/>
      <dgm:spPr/>
    </dgm:pt>
    <dgm:pt modelId="{E9A69E93-D3F7-4074-8DAE-B55BEF9D9BE1}" type="pres">
      <dgm:prSet presAssocID="{2C03571C-5E76-43DB-A94A-1377CE93612E}" presName="parentLin" presStyleCnt="0"/>
      <dgm:spPr/>
    </dgm:pt>
    <dgm:pt modelId="{72059C49-BB8D-42DF-A442-D3390F12DD18}" type="pres">
      <dgm:prSet presAssocID="{2C03571C-5E76-43DB-A94A-1377CE93612E}" presName="parentLeftMargin" presStyleLbl="node1" presStyleIdx="0" presStyleCnt="4"/>
      <dgm:spPr/>
    </dgm:pt>
    <dgm:pt modelId="{B76CAE1D-62FD-4CCE-AF2F-C3245E6478FE}" type="pres">
      <dgm:prSet presAssocID="{2C03571C-5E76-43DB-A94A-1377CE93612E}" presName="parentText" presStyleLbl="node1" presStyleIdx="1" presStyleCnt="4">
        <dgm:presLayoutVars>
          <dgm:chMax val="0"/>
          <dgm:bulletEnabled val="1"/>
        </dgm:presLayoutVars>
      </dgm:prSet>
      <dgm:spPr/>
    </dgm:pt>
    <dgm:pt modelId="{D6EA0038-B519-409F-AFE4-6D68097DF311}" type="pres">
      <dgm:prSet presAssocID="{2C03571C-5E76-43DB-A94A-1377CE93612E}" presName="negativeSpace" presStyleCnt="0"/>
      <dgm:spPr/>
    </dgm:pt>
    <dgm:pt modelId="{67CA590F-C56D-4447-A2C7-8902FE0C8B7C}" type="pres">
      <dgm:prSet presAssocID="{2C03571C-5E76-43DB-A94A-1377CE93612E}" presName="childText" presStyleLbl="conFgAcc1" presStyleIdx="1" presStyleCnt="4">
        <dgm:presLayoutVars>
          <dgm:bulletEnabled val="1"/>
        </dgm:presLayoutVars>
      </dgm:prSet>
      <dgm:spPr/>
    </dgm:pt>
    <dgm:pt modelId="{D47B50CF-64E6-46B2-B85E-810F36D87B1E}" type="pres">
      <dgm:prSet presAssocID="{620BEE1E-DCFA-429F-9313-C540BC1D9B71}" presName="spaceBetweenRectangles" presStyleCnt="0"/>
      <dgm:spPr/>
    </dgm:pt>
    <dgm:pt modelId="{00F64902-41C6-4486-8303-92893582085A}" type="pres">
      <dgm:prSet presAssocID="{A115DB54-E1F6-4D3E-9302-CF021B390149}" presName="parentLin" presStyleCnt="0"/>
      <dgm:spPr/>
    </dgm:pt>
    <dgm:pt modelId="{D8E0CF13-CC27-4AB3-BAB8-F8E510D0ED99}" type="pres">
      <dgm:prSet presAssocID="{A115DB54-E1F6-4D3E-9302-CF021B390149}" presName="parentLeftMargin" presStyleLbl="node1" presStyleIdx="1" presStyleCnt="4"/>
      <dgm:spPr/>
    </dgm:pt>
    <dgm:pt modelId="{FAF30836-50F4-42FF-992C-A1E9A2AA9AAF}" type="pres">
      <dgm:prSet presAssocID="{A115DB54-E1F6-4D3E-9302-CF021B390149}" presName="parentText" presStyleLbl="node1" presStyleIdx="2" presStyleCnt="4">
        <dgm:presLayoutVars>
          <dgm:chMax val="0"/>
          <dgm:bulletEnabled val="1"/>
        </dgm:presLayoutVars>
      </dgm:prSet>
      <dgm:spPr/>
    </dgm:pt>
    <dgm:pt modelId="{5379227A-4F58-44B0-8142-C0FABF407CD4}" type="pres">
      <dgm:prSet presAssocID="{A115DB54-E1F6-4D3E-9302-CF021B390149}" presName="negativeSpace" presStyleCnt="0"/>
      <dgm:spPr/>
    </dgm:pt>
    <dgm:pt modelId="{737D9A7D-113A-4B71-B111-F92EB0D1AC29}" type="pres">
      <dgm:prSet presAssocID="{A115DB54-E1F6-4D3E-9302-CF021B390149}" presName="childText" presStyleLbl="conFgAcc1" presStyleIdx="2" presStyleCnt="4">
        <dgm:presLayoutVars>
          <dgm:bulletEnabled val="1"/>
        </dgm:presLayoutVars>
      </dgm:prSet>
      <dgm:spPr/>
    </dgm:pt>
    <dgm:pt modelId="{FDD8FB21-4589-41E5-8991-FC30E8173DED}" type="pres">
      <dgm:prSet presAssocID="{228B69F7-C18F-4CB8-8495-5EBECC30B914}" presName="spaceBetweenRectangles" presStyleCnt="0"/>
      <dgm:spPr/>
    </dgm:pt>
    <dgm:pt modelId="{6D12C094-3FBA-4C98-9CBF-50C919C9F7D1}" type="pres">
      <dgm:prSet presAssocID="{C4DEC525-D0B7-4C9D-8094-A6F56A808F41}" presName="parentLin" presStyleCnt="0"/>
      <dgm:spPr/>
    </dgm:pt>
    <dgm:pt modelId="{D7727485-07AF-40DA-8171-7A0526E73478}" type="pres">
      <dgm:prSet presAssocID="{C4DEC525-D0B7-4C9D-8094-A6F56A808F41}" presName="parentLeftMargin" presStyleLbl="node1" presStyleIdx="2" presStyleCnt="4"/>
      <dgm:spPr/>
    </dgm:pt>
    <dgm:pt modelId="{139F4BFF-8B43-431A-90BA-25B83F2F15D2}" type="pres">
      <dgm:prSet presAssocID="{C4DEC525-D0B7-4C9D-8094-A6F56A808F41}" presName="parentText" presStyleLbl="node1" presStyleIdx="3" presStyleCnt="4">
        <dgm:presLayoutVars>
          <dgm:chMax val="0"/>
          <dgm:bulletEnabled val="1"/>
        </dgm:presLayoutVars>
      </dgm:prSet>
      <dgm:spPr/>
    </dgm:pt>
    <dgm:pt modelId="{5DF0886F-68DF-47AB-A83D-68F647A217B6}" type="pres">
      <dgm:prSet presAssocID="{C4DEC525-D0B7-4C9D-8094-A6F56A808F41}" presName="negativeSpace" presStyleCnt="0"/>
      <dgm:spPr/>
    </dgm:pt>
    <dgm:pt modelId="{BC47B3E5-72E8-46C6-BDA9-C5E5243349DB}" type="pres">
      <dgm:prSet presAssocID="{C4DEC525-D0B7-4C9D-8094-A6F56A808F41}" presName="childText" presStyleLbl="conFgAcc1" presStyleIdx="3" presStyleCnt="4">
        <dgm:presLayoutVars>
          <dgm:bulletEnabled val="1"/>
        </dgm:presLayoutVars>
      </dgm:prSet>
      <dgm:spPr/>
    </dgm:pt>
  </dgm:ptLst>
  <dgm:cxnLst>
    <dgm:cxn modelId="{DFDEC717-5C19-423D-B506-999B8FD1640A}" srcId="{24FF4C07-E2C6-470B-9EAE-545E1AD2421F}" destId="{A115DB54-E1F6-4D3E-9302-CF021B390149}" srcOrd="2" destOrd="0" parTransId="{1FB77D19-115C-46AB-AB8C-BB0D169424FE}" sibTransId="{228B69F7-C18F-4CB8-8495-5EBECC30B914}"/>
    <dgm:cxn modelId="{CB98B424-B5CB-42D8-978E-5BD03B3FE177}" srcId="{A115DB54-E1F6-4D3E-9302-CF021B390149}" destId="{36886523-00C4-47A0-96E8-AF9793BF4957}" srcOrd="0" destOrd="0" parTransId="{5C14B2F3-D877-4610-B3E6-DBC2433135AA}" sibTransId="{F90B7A55-350D-4BD1-9E44-B97BC997F126}"/>
    <dgm:cxn modelId="{6BA37334-8140-40C8-9FEC-B4257848BBB7}" type="presOf" srcId="{EEE30365-F211-4187-B49F-B62CA47B0232}" destId="{0A958C28-570B-463D-A962-D2B3C050902E}" srcOrd="0" destOrd="0" presId="urn:microsoft.com/office/officeart/2005/8/layout/list1"/>
    <dgm:cxn modelId="{2D476436-2AF2-4668-A82D-62BC640F1BBA}" type="presOf" srcId="{2C03571C-5E76-43DB-A94A-1377CE93612E}" destId="{72059C49-BB8D-42DF-A442-D3390F12DD18}" srcOrd="0" destOrd="0" presId="urn:microsoft.com/office/officeart/2005/8/layout/list1"/>
    <dgm:cxn modelId="{5FD4D938-660E-44A4-A5CB-4F3DF2B4BF85}" type="presOf" srcId="{C4DEC525-D0B7-4C9D-8094-A6F56A808F41}" destId="{139F4BFF-8B43-431A-90BA-25B83F2F15D2}" srcOrd="1" destOrd="0" presId="urn:microsoft.com/office/officeart/2005/8/layout/list1"/>
    <dgm:cxn modelId="{C9050367-E28F-4338-9C2B-72CB51FA6D3C}" type="presOf" srcId="{A115DB54-E1F6-4D3E-9302-CF021B390149}" destId="{FAF30836-50F4-42FF-992C-A1E9A2AA9AAF}" srcOrd="1" destOrd="0" presId="urn:microsoft.com/office/officeart/2005/8/layout/list1"/>
    <dgm:cxn modelId="{6719ED6E-9706-4667-9022-27885CDC7891}" type="presOf" srcId="{36886523-00C4-47A0-96E8-AF9793BF4957}" destId="{737D9A7D-113A-4B71-B111-F92EB0D1AC29}" srcOrd="0" destOrd="0" presId="urn:microsoft.com/office/officeart/2005/8/layout/list1"/>
    <dgm:cxn modelId="{AD1E4A70-A3AA-46F9-B4F3-C6C3C41F5962}" type="presOf" srcId="{AB09B282-2B13-48FB-847D-3AB9CAB87759}" destId="{737D9A7D-113A-4B71-B111-F92EB0D1AC29}" srcOrd="0" destOrd="3" presId="urn:microsoft.com/office/officeart/2005/8/layout/list1"/>
    <dgm:cxn modelId="{8C0E3574-CC61-4384-B792-7615C2F2C7A0}" type="presOf" srcId="{A115DB54-E1F6-4D3E-9302-CF021B390149}" destId="{D8E0CF13-CC27-4AB3-BAB8-F8E510D0ED99}" srcOrd="0" destOrd="0" presId="urn:microsoft.com/office/officeart/2005/8/layout/list1"/>
    <dgm:cxn modelId="{3813D77C-AFD5-4689-9B89-F5313F94CDFE}" srcId="{A115DB54-E1F6-4D3E-9302-CF021B390149}" destId="{90F05EB8-4814-4683-A077-13856E7EBCD8}" srcOrd="4" destOrd="0" parTransId="{6F839932-B5C0-48C0-9898-B63600A30C70}" sibTransId="{0F7B01D5-3764-44F8-92F4-520AD9864893}"/>
    <dgm:cxn modelId="{84751291-F60F-455C-BB81-2A176C8BBC72}" type="presOf" srcId="{C4DEC525-D0B7-4C9D-8094-A6F56A808F41}" destId="{D7727485-07AF-40DA-8171-7A0526E73478}" srcOrd="0" destOrd="0" presId="urn:microsoft.com/office/officeart/2005/8/layout/list1"/>
    <dgm:cxn modelId="{883B7C95-A084-4A2D-AAFD-181F01DCDA3C}" srcId="{A115DB54-E1F6-4D3E-9302-CF021B390149}" destId="{AF68F50C-CF7A-4BF4-B3E2-C182526A28DD}" srcOrd="2" destOrd="0" parTransId="{D76F14A7-F685-4765-B5C5-0BC096D5BF2B}" sibTransId="{D3DEC2A7-3383-4390-BB8F-83947C96DEE4}"/>
    <dgm:cxn modelId="{00E53E98-77B0-4A0F-B2B4-7CFB623B5F7B}" type="presOf" srcId="{90F05EB8-4814-4683-A077-13856E7EBCD8}" destId="{737D9A7D-113A-4B71-B111-F92EB0D1AC29}" srcOrd="0" destOrd="4" presId="urn:microsoft.com/office/officeart/2005/8/layout/list1"/>
    <dgm:cxn modelId="{3D51E49F-0213-4435-B203-40F2BE258484}" srcId="{24FF4C07-E2C6-470B-9EAE-545E1AD2421F}" destId="{2C03571C-5E76-43DB-A94A-1377CE93612E}" srcOrd="1" destOrd="0" parTransId="{6C400902-ED5D-4171-B069-5519025B5E32}" sibTransId="{620BEE1E-DCFA-429F-9313-C540BC1D9B71}"/>
    <dgm:cxn modelId="{1FDD31A4-B407-40ED-BC3C-A639B188CF3E}" type="presOf" srcId="{AF68F50C-CF7A-4BF4-B3E2-C182526A28DD}" destId="{737D9A7D-113A-4B71-B111-F92EB0D1AC29}" srcOrd="0" destOrd="2" presId="urn:microsoft.com/office/officeart/2005/8/layout/list1"/>
    <dgm:cxn modelId="{99095EAB-CA85-4DE3-926D-29C2E134EF86}" type="presOf" srcId="{CBEC7BA1-93D0-4C43-8939-66AD61094DFA}" destId="{737D9A7D-113A-4B71-B111-F92EB0D1AC29}" srcOrd="0" destOrd="1" presId="urn:microsoft.com/office/officeart/2005/8/layout/list1"/>
    <dgm:cxn modelId="{D26262B5-0CDE-49F5-8926-3BD19556AAA6}" type="presOf" srcId="{24FF4C07-E2C6-470B-9EAE-545E1AD2421F}" destId="{5172ED39-554B-4E79-B354-3AE388B533C1}" srcOrd="0" destOrd="0" presId="urn:microsoft.com/office/officeart/2005/8/layout/list1"/>
    <dgm:cxn modelId="{6037CDC2-1052-46C1-AE9D-0B619F7B3D4E}" type="presOf" srcId="{2C03571C-5E76-43DB-A94A-1377CE93612E}" destId="{B76CAE1D-62FD-4CCE-AF2F-C3245E6478FE}" srcOrd="1" destOrd="0" presId="urn:microsoft.com/office/officeart/2005/8/layout/list1"/>
    <dgm:cxn modelId="{6256D6E7-3D62-46DA-B2FC-D664FE105A09}" srcId="{24FF4C07-E2C6-470B-9EAE-545E1AD2421F}" destId="{EEE30365-F211-4187-B49F-B62CA47B0232}" srcOrd="0" destOrd="0" parTransId="{8F3519DB-F067-4FEF-8B65-7DA4BD74EB32}" sibTransId="{641459A3-0D8E-445C-A533-B420753CA045}"/>
    <dgm:cxn modelId="{DAE9C2EA-C959-4157-8D01-CD68DB5ADB0E}" srcId="{A115DB54-E1F6-4D3E-9302-CF021B390149}" destId="{AB09B282-2B13-48FB-847D-3AB9CAB87759}" srcOrd="3" destOrd="0" parTransId="{95E435A9-78DC-4C7B-8794-447CAA0CF0AC}" sibTransId="{8F7288FF-2C1A-47B1-BEF3-FE848B9DA095}"/>
    <dgm:cxn modelId="{6C17C0F2-E094-4D55-B6E8-86753BC87BD7}" srcId="{24FF4C07-E2C6-470B-9EAE-545E1AD2421F}" destId="{C4DEC525-D0B7-4C9D-8094-A6F56A808F41}" srcOrd="3" destOrd="0" parTransId="{37504719-3103-48C3-B044-30DA16DF8D99}" sibTransId="{E3B32036-E857-42AB-B647-533449B32BAA}"/>
    <dgm:cxn modelId="{FE9E6AF6-2E2A-4388-8946-DCD017C3B3B9}" srcId="{A115DB54-E1F6-4D3E-9302-CF021B390149}" destId="{CBEC7BA1-93D0-4C43-8939-66AD61094DFA}" srcOrd="1" destOrd="0" parTransId="{7EB6D59A-6676-46E7-A9FD-5F528BD1B807}" sibTransId="{F2C7A4FA-4048-4004-AEFD-00B50C237F10}"/>
    <dgm:cxn modelId="{D38F71FA-5E32-4553-8940-4D9881ABCEFB}" type="presOf" srcId="{EEE30365-F211-4187-B49F-B62CA47B0232}" destId="{7633E26B-3604-4F9F-B689-499849512E61}" srcOrd="1" destOrd="0" presId="urn:microsoft.com/office/officeart/2005/8/layout/list1"/>
    <dgm:cxn modelId="{CE3A57D7-287E-4E96-B381-2304F06EE52A}" type="presParOf" srcId="{5172ED39-554B-4E79-B354-3AE388B533C1}" destId="{9D02E6B0-CABF-4C99-90CF-B6868EC78063}" srcOrd="0" destOrd="0" presId="urn:microsoft.com/office/officeart/2005/8/layout/list1"/>
    <dgm:cxn modelId="{F43CF77B-C91D-46FA-8EBF-3A8A7864DF67}" type="presParOf" srcId="{9D02E6B0-CABF-4C99-90CF-B6868EC78063}" destId="{0A958C28-570B-463D-A962-D2B3C050902E}" srcOrd="0" destOrd="0" presId="urn:microsoft.com/office/officeart/2005/8/layout/list1"/>
    <dgm:cxn modelId="{0E0DA493-A577-40B8-8083-6896D0060FF1}" type="presParOf" srcId="{9D02E6B0-CABF-4C99-90CF-B6868EC78063}" destId="{7633E26B-3604-4F9F-B689-499849512E61}" srcOrd="1" destOrd="0" presId="urn:microsoft.com/office/officeart/2005/8/layout/list1"/>
    <dgm:cxn modelId="{05F0179B-9888-4D43-AF4D-1D04973CDB41}" type="presParOf" srcId="{5172ED39-554B-4E79-B354-3AE388B533C1}" destId="{F36BFC44-AB7B-46FA-A3ED-A22844815372}" srcOrd="1" destOrd="0" presId="urn:microsoft.com/office/officeart/2005/8/layout/list1"/>
    <dgm:cxn modelId="{4DA40F3C-1E26-41A5-9B48-95DB1C2F0367}" type="presParOf" srcId="{5172ED39-554B-4E79-B354-3AE388B533C1}" destId="{86060E36-1F98-4354-B7CA-277290BEC777}" srcOrd="2" destOrd="0" presId="urn:microsoft.com/office/officeart/2005/8/layout/list1"/>
    <dgm:cxn modelId="{2DDC6E4D-153B-4FA9-83E9-CE31A1087C30}" type="presParOf" srcId="{5172ED39-554B-4E79-B354-3AE388B533C1}" destId="{AA4C76A1-B3C4-4EBA-B51A-97638B892F35}" srcOrd="3" destOrd="0" presId="urn:microsoft.com/office/officeart/2005/8/layout/list1"/>
    <dgm:cxn modelId="{FDB5F751-ACC2-4C9E-8FA2-852DE31D4286}" type="presParOf" srcId="{5172ED39-554B-4E79-B354-3AE388B533C1}" destId="{E9A69E93-D3F7-4074-8DAE-B55BEF9D9BE1}" srcOrd="4" destOrd="0" presId="urn:microsoft.com/office/officeart/2005/8/layout/list1"/>
    <dgm:cxn modelId="{CDA6C899-7717-4DC9-A061-3997CCAEACD9}" type="presParOf" srcId="{E9A69E93-D3F7-4074-8DAE-B55BEF9D9BE1}" destId="{72059C49-BB8D-42DF-A442-D3390F12DD18}" srcOrd="0" destOrd="0" presId="urn:microsoft.com/office/officeart/2005/8/layout/list1"/>
    <dgm:cxn modelId="{07592E96-0811-433C-ADE4-92C501B9EB1A}" type="presParOf" srcId="{E9A69E93-D3F7-4074-8DAE-B55BEF9D9BE1}" destId="{B76CAE1D-62FD-4CCE-AF2F-C3245E6478FE}" srcOrd="1" destOrd="0" presId="urn:microsoft.com/office/officeart/2005/8/layout/list1"/>
    <dgm:cxn modelId="{0AF2B0B9-6049-4865-9349-11E6C16E2779}" type="presParOf" srcId="{5172ED39-554B-4E79-B354-3AE388B533C1}" destId="{D6EA0038-B519-409F-AFE4-6D68097DF311}" srcOrd="5" destOrd="0" presId="urn:microsoft.com/office/officeart/2005/8/layout/list1"/>
    <dgm:cxn modelId="{57B66DF1-648E-40EA-9F66-8D6505BC2FC5}" type="presParOf" srcId="{5172ED39-554B-4E79-B354-3AE388B533C1}" destId="{67CA590F-C56D-4447-A2C7-8902FE0C8B7C}" srcOrd="6" destOrd="0" presId="urn:microsoft.com/office/officeart/2005/8/layout/list1"/>
    <dgm:cxn modelId="{BE2B9E0C-016D-4189-8ED4-D0F458F7DB84}" type="presParOf" srcId="{5172ED39-554B-4E79-B354-3AE388B533C1}" destId="{D47B50CF-64E6-46B2-B85E-810F36D87B1E}" srcOrd="7" destOrd="0" presId="urn:microsoft.com/office/officeart/2005/8/layout/list1"/>
    <dgm:cxn modelId="{C2E552B3-FC58-4C3D-9F70-85AD54571913}" type="presParOf" srcId="{5172ED39-554B-4E79-B354-3AE388B533C1}" destId="{00F64902-41C6-4486-8303-92893582085A}" srcOrd="8" destOrd="0" presId="urn:microsoft.com/office/officeart/2005/8/layout/list1"/>
    <dgm:cxn modelId="{215CEF77-728E-47AB-9EDA-0D010B9C3E8E}" type="presParOf" srcId="{00F64902-41C6-4486-8303-92893582085A}" destId="{D8E0CF13-CC27-4AB3-BAB8-F8E510D0ED99}" srcOrd="0" destOrd="0" presId="urn:microsoft.com/office/officeart/2005/8/layout/list1"/>
    <dgm:cxn modelId="{454CE57B-053F-4CD6-9C33-6B3CD5968310}" type="presParOf" srcId="{00F64902-41C6-4486-8303-92893582085A}" destId="{FAF30836-50F4-42FF-992C-A1E9A2AA9AAF}" srcOrd="1" destOrd="0" presId="urn:microsoft.com/office/officeart/2005/8/layout/list1"/>
    <dgm:cxn modelId="{1CE83C62-04AF-4007-BCA1-DE99450D4612}" type="presParOf" srcId="{5172ED39-554B-4E79-B354-3AE388B533C1}" destId="{5379227A-4F58-44B0-8142-C0FABF407CD4}" srcOrd="9" destOrd="0" presId="urn:microsoft.com/office/officeart/2005/8/layout/list1"/>
    <dgm:cxn modelId="{24A6E074-ACC4-40AB-9568-B0309D8B28EC}" type="presParOf" srcId="{5172ED39-554B-4E79-B354-3AE388B533C1}" destId="{737D9A7D-113A-4B71-B111-F92EB0D1AC29}" srcOrd="10" destOrd="0" presId="urn:microsoft.com/office/officeart/2005/8/layout/list1"/>
    <dgm:cxn modelId="{3FA524F0-706A-44F2-9C2A-A6771CDA8455}" type="presParOf" srcId="{5172ED39-554B-4E79-B354-3AE388B533C1}" destId="{FDD8FB21-4589-41E5-8991-FC30E8173DED}" srcOrd="11" destOrd="0" presId="urn:microsoft.com/office/officeart/2005/8/layout/list1"/>
    <dgm:cxn modelId="{E8101DBB-0DDC-4405-BEED-DCB2438FCB73}" type="presParOf" srcId="{5172ED39-554B-4E79-B354-3AE388B533C1}" destId="{6D12C094-3FBA-4C98-9CBF-50C919C9F7D1}" srcOrd="12" destOrd="0" presId="urn:microsoft.com/office/officeart/2005/8/layout/list1"/>
    <dgm:cxn modelId="{3C2B91AC-C892-412C-B4E8-58C3C5033E80}" type="presParOf" srcId="{6D12C094-3FBA-4C98-9CBF-50C919C9F7D1}" destId="{D7727485-07AF-40DA-8171-7A0526E73478}" srcOrd="0" destOrd="0" presId="urn:microsoft.com/office/officeart/2005/8/layout/list1"/>
    <dgm:cxn modelId="{BD40F761-4099-49AE-9C12-340C94E327E7}" type="presParOf" srcId="{6D12C094-3FBA-4C98-9CBF-50C919C9F7D1}" destId="{139F4BFF-8B43-431A-90BA-25B83F2F15D2}" srcOrd="1" destOrd="0" presId="urn:microsoft.com/office/officeart/2005/8/layout/list1"/>
    <dgm:cxn modelId="{0044256C-F568-4C31-890C-15CD7CE0FFB9}" type="presParOf" srcId="{5172ED39-554B-4E79-B354-3AE388B533C1}" destId="{5DF0886F-68DF-47AB-A83D-68F647A217B6}" srcOrd="13" destOrd="0" presId="urn:microsoft.com/office/officeart/2005/8/layout/list1"/>
    <dgm:cxn modelId="{2CBC6D6E-242F-4239-AFBC-04BF48485EA5}" type="presParOf" srcId="{5172ED39-554B-4E79-B354-3AE388B533C1}" destId="{BC47B3E5-72E8-46C6-BDA9-C5E5243349DB}"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0C3FB0-1317-46B2-9447-4CA7B049B0CC}"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D5C7F4F-60DB-47B0-9A65-2ED8FD9223B4}">
      <dgm:prSet/>
      <dgm:spPr/>
      <dgm:t>
        <a:bodyPr/>
        <a:lstStyle/>
        <a:p>
          <a:pPr>
            <a:lnSpc>
              <a:spcPct val="100000"/>
            </a:lnSpc>
          </a:pPr>
          <a:r>
            <a:rPr lang="en-US" b="1"/>
            <a:t>Goal:</a:t>
          </a:r>
          <a:r>
            <a:rPr lang="en-US"/>
            <a:t> Maximize surface area</a:t>
          </a:r>
        </a:p>
      </dgm:t>
    </dgm:pt>
    <dgm:pt modelId="{F1DB733F-2444-4D7F-B910-71673654A580}" type="parTrans" cxnId="{93E0E4A0-9873-486D-8FBE-A3E9D7C5A3AD}">
      <dgm:prSet/>
      <dgm:spPr/>
      <dgm:t>
        <a:bodyPr/>
        <a:lstStyle/>
        <a:p>
          <a:endParaRPr lang="en-US"/>
        </a:p>
      </dgm:t>
    </dgm:pt>
    <dgm:pt modelId="{8E9DEAC8-9910-4735-A77C-14A90EF15A3D}" type="sibTrans" cxnId="{93E0E4A0-9873-486D-8FBE-A3E9D7C5A3AD}">
      <dgm:prSet/>
      <dgm:spPr/>
      <dgm:t>
        <a:bodyPr/>
        <a:lstStyle/>
        <a:p>
          <a:endParaRPr lang="en-US"/>
        </a:p>
      </dgm:t>
    </dgm:pt>
    <dgm:pt modelId="{C239D5C1-B731-423E-BA59-EA90556CB51C}">
      <dgm:prSet/>
      <dgm:spPr/>
      <dgm:t>
        <a:bodyPr/>
        <a:lstStyle/>
        <a:p>
          <a:pPr>
            <a:lnSpc>
              <a:spcPct val="100000"/>
            </a:lnSpc>
          </a:pPr>
          <a:r>
            <a:rPr lang="en-US" b="1"/>
            <a:t>Prediction Constraints:</a:t>
          </a:r>
          <a:endParaRPr lang="en-US"/>
        </a:p>
      </dgm:t>
    </dgm:pt>
    <dgm:pt modelId="{AD3CC143-0239-4443-957A-A6ED4F1645B7}" type="parTrans" cxnId="{1394F73E-7219-471C-8DF7-2A6D0E2F6AF5}">
      <dgm:prSet/>
      <dgm:spPr/>
      <dgm:t>
        <a:bodyPr/>
        <a:lstStyle/>
        <a:p>
          <a:endParaRPr lang="en-US"/>
        </a:p>
      </dgm:t>
    </dgm:pt>
    <dgm:pt modelId="{F3570AC0-E169-41D6-9788-CB6B1FF8EA17}" type="sibTrans" cxnId="{1394F73E-7219-471C-8DF7-2A6D0E2F6AF5}">
      <dgm:prSet/>
      <dgm:spPr/>
      <dgm:t>
        <a:bodyPr/>
        <a:lstStyle/>
        <a:p>
          <a:endParaRPr lang="en-US"/>
        </a:p>
      </dgm:t>
    </dgm:pt>
    <dgm:pt modelId="{3AE7F630-8478-486E-9CD7-B79FBDD4AFE3}">
      <dgm:prSet/>
      <dgm:spPr/>
      <dgm:t>
        <a:bodyPr/>
        <a:lstStyle/>
        <a:p>
          <a:pPr rtl="0">
            <a:lnSpc>
              <a:spcPct val="100000"/>
            </a:lnSpc>
          </a:pPr>
          <a:r>
            <a:rPr lang="en-US"/>
            <a:t>Mass &lt; 125</a:t>
          </a:r>
          <a:r>
            <a:rPr lang="en-US">
              <a:latin typeface="Aptos Display" panose="02110004020202020204"/>
            </a:rPr>
            <a:t> g</a:t>
          </a:r>
          <a:endParaRPr lang="en-US"/>
        </a:p>
      </dgm:t>
    </dgm:pt>
    <dgm:pt modelId="{133B3EA8-4329-4DD0-B415-E14E6F60EF19}" type="parTrans" cxnId="{C74864BF-1F36-4311-9231-6C753FD59543}">
      <dgm:prSet/>
      <dgm:spPr/>
      <dgm:t>
        <a:bodyPr/>
        <a:lstStyle/>
        <a:p>
          <a:endParaRPr lang="en-US"/>
        </a:p>
      </dgm:t>
    </dgm:pt>
    <dgm:pt modelId="{F258BE46-4210-40D7-A298-406C192154E3}" type="sibTrans" cxnId="{C74864BF-1F36-4311-9231-6C753FD59543}">
      <dgm:prSet/>
      <dgm:spPr/>
      <dgm:t>
        <a:bodyPr/>
        <a:lstStyle/>
        <a:p>
          <a:endParaRPr lang="en-US"/>
        </a:p>
      </dgm:t>
    </dgm:pt>
    <dgm:pt modelId="{56FB15AF-05C3-4566-BD28-646594E3DE43}">
      <dgm:prSet/>
      <dgm:spPr/>
      <dgm:t>
        <a:bodyPr/>
        <a:lstStyle/>
        <a:p>
          <a:pPr>
            <a:lnSpc>
              <a:spcPct val="100000"/>
            </a:lnSpc>
          </a:pPr>
          <a:r>
            <a:rPr lang="en-US"/>
            <a:t>Pressure Drop &lt; 8000 Pa</a:t>
          </a:r>
        </a:p>
      </dgm:t>
    </dgm:pt>
    <dgm:pt modelId="{67A5032F-9B22-4137-9325-EA2486E42CDE}" type="parTrans" cxnId="{62C39222-34DB-4DA7-B0A9-9E77A4C00587}">
      <dgm:prSet/>
      <dgm:spPr/>
      <dgm:t>
        <a:bodyPr/>
        <a:lstStyle/>
        <a:p>
          <a:endParaRPr lang="en-US"/>
        </a:p>
      </dgm:t>
    </dgm:pt>
    <dgm:pt modelId="{0E180229-094D-49E5-B520-C294F64559B6}" type="sibTrans" cxnId="{62C39222-34DB-4DA7-B0A9-9E77A4C00587}">
      <dgm:prSet/>
      <dgm:spPr/>
      <dgm:t>
        <a:bodyPr/>
        <a:lstStyle/>
        <a:p>
          <a:endParaRPr lang="en-US"/>
        </a:p>
      </dgm:t>
    </dgm:pt>
    <dgm:pt modelId="{6F4BC7B7-291C-4839-B373-2FE54AB9DF69}">
      <dgm:prSet/>
      <dgm:spPr/>
      <dgm:t>
        <a:bodyPr/>
        <a:lstStyle/>
        <a:p>
          <a:pPr>
            <a:lnSpc>
              <a:spcPct val="100000"/>
            </a:lnSpc>
          </a:pPr>
          <a:r>
            <a:rPr lang="en-US"/>
            <a:t>Avg. Velocity &gt; 520 mm/s</a:t>
          </a:r>
        </a:p>
      </dgm:t>
    </dgm:pt>
    <dgm:pt modelId="{66F21C27-E23F-41E6-A051-165957652420}" type="parTrans" cxnId="{F50D6A64-BF05-4C19-8C54-1D7D6DD52B23}">
      <dgm:prSet/>
      <dgm:spPr/>
      <dgm:t>
        <a:bodyPr/>
        <a:lstStyle/>
        <a:p>
          <a:endParaRPr lang="en-US"/>
        </a:p>
      </dgm:t>
    </dgm:pt>
    <dgm:pt modelId="{A094B049-E375-4B38-B7F7-D536B0E92974}" type="sibTrans" cxnId="{F50D6A64-BF05-4C19-8C54-1D7D6DD52B23}">
      <dgm:prSet/>
      <dgm:spPr/>
      <dgm:t>
        <a:bodyPr/>
        <a:lstStyle/>
        <a:p>
          <a:endParaRPr lang="en-US"/>
        </a:p>
      </dgm:t>
    </dgm:pt>
    <dgm:pt modelId="{A306DC7A-0B93-499D-8D44-71A4294641FD}">
      <dgm:prSet/>
      <dgm:spPr/>
      <dgm:t>
        <a:bodyPr/>
        <a:lstStyle/>
        <a:p>
          <a:pPr>
            <a:lnSpc>
              <a:spcPct val="100000"/>
            </a:lnSpc>
          </a:pPr>
          <a:r>
            <a:rPr lang="en-US" b="1"/>
            <a:t>Methods:</a:t>
          </a:r>
          <a:endParaRPr lang="en-US"/>
        </a:p>
      </dgm:t>
    </dgm:pt>
    <dgm:pt modelId="{C8170939-86CD-4A20-8FAD-0ECC041A8EDD}" type="parTrans" cxnId="{92EB85D0-0DE6-40AD-8586-60C637455374}">
      <dgm:prSet/>
      <dgm:spPr/>
      <dgm:t>
        <a:bodyPr/>
        <a:lstStyle/>
        <a:p>
          <a:endParaRPr lang="en-US"/>
        </a:p>
      </dgm:t>
    </dgm:pt>
    <dgm:pt modelId="{6354B7BE-DEB5-411A-831A-4691047647B0}" type="sibTrans" cxnId="{92EB85D0-0DE6-40AD-8586-60C637455374}">
      <dgm:prSet/>
      <dgm:spPr/>
      <dgm:t>
        <a:bodyPr/>
        <a:lstStyle/>
        <a:p>
          <a:endParaRPr lang="en-US"/>
        </a:p>
      </dgm:t>
    </dgm:pt>
    <dgm:pt modelId="{15DE168A-C1CC-4A16-BEF2-120E5E23BAB6}">
      <dgm:prSet/>
      <dgm:spPr/>
      <dgm:t>
        <a:bodyPr/>
        <a:lstStyle/>
        <a:p>
          <a:pPr>
            <a:lnSpc>
              <a:spcPct val="100000"/>
            </a:lnSpc>
          </a:pPr>
          <a:r>
            <a:rPr lang="en-US"/>
            <a:t>Random sampling </a:t>
          </a:r>
        </a:p>
      </dgm:t>
    </dgm:pt>
    <dgm:pt modelId="{62208685-20A1-4438-8FA3-E2153A0A1431}" type="parTrans" cxnId="{80DCA05E-33D2-4A87-99DA-598978583374}">
      <dgm:prSet/>
      <dgm:spPr/>
      <dgm:t>
        <a:bodyPr/>
        <a:lstStyle/>
        <a:p>
          <a:endParaRPr lang="en-US"/>
        </a:p>
      </dgm:t>
    </dgm:pt>
    <dgm:pt modelId="{F67B3C61-2A0E-4E3F-BBFA-2D71572DD594}" type="sibTrans" cxnId="{80DCA05E-33D2-4A87-99DA-598978583374}">
      <dgm:prSet/>
      <dgm:spPr/>
      <dgm:t>
        <a:bodyPr/>
        <a:lstStyle/>
        <a:p>
          <a:endParaRPr lang="en-US"/>
        </a:p>
      </dgm:t>
    </dgm:pt>
    <dgm:pt modelId="{D35AB692-2625-4C83-865D-B607EE1D4382}">
      <dgm:prSet/>
      <dgm:spPr/>
      <dgm:t>
        <a:bodyPr/>
        <a:lstStyle/>
        <a:p>
          <a:pPr>
            <a:lnSpc>
              <a:spcPct val="100000"/>
            </a:lnSpc>
          </a:pPr>
          <a:r>
            <a:rPr lang="en-US"/>
            <a:t>Multi-start optimization</a:t>
          </a:r>
        </a:p>
      </dgm:t>
    </dgm:pt>
    <dgm:pt modelId="{BE6A93E9-845B-442A-BBFB-2D6D0C352074}" type="parTrans" cxnId="{44C9DF79-5F66-4282-BF31-28007871AFBF}">
      <dgm:prSet/>
      <dgm:spPr/>
      <dgm:t>
        <a:bodyPr/>
        <a:lstStyle/>
        <a:p>
          <a:endParaRPr lang="en-US"/>
        </a:p>
      </dgm:t>
    </dgm:pt>
    <dgm:pt modelId="{98F3CC38-5FF5-4264-B85E-70435826AD2E}" type="sibTrans" cxnId="{44C9DF79-5F66-4282-BF31-28007871AFBF}">
      <dgm:prSet/>
      <dgm:spPr/>
      <dgm:t>
        <a:bodyPr/>
        <a:lstStyle/>
        <a:p>
          <a:endParaRPr lang="en-US"/>
        </a:p>
      </dgm:t>
    </dgm:pt>
    <dgm:pt modelId="{359A00CC-1CBB-4F0A-98F8-3C9D19CBF170}">
      <dgm:prSet/>
      <dgm:spPr/>
      <dgm:t>
        <a:bodyPr/>
        <a:lstStyle/>
        <a:p>
          <a:pPr rtl="0">
            <a:lnSpc>
              <a:spcPct val="100000"/>
            </a:lnSpc>
          </a:pPr>
          <a:r>
            <a:rPr lang="en-US"/>
            <a:t>Validation with </a:t>
          </a:r>
          <a:r>
            <a:rPr lang="en-US" err="1"/>
            <a:t>nTop</a:t>
          </a:r>
          <a:endParaRPr lang="en-US"/>
        </a:p>
      </dgm:t>
    </dgm:pt>
    <dgm:pt modelId="{C618BD15-D668-44F1-A034-2B21D1E39FF0}" type="parTrans" cxnId="{9994B393-6B8E-420F-A2EB-5978039C9C78}">
      <dgm:prSet/>
      <dgm:spPr/>
      <dgm:t>
        <a:bodyPr/>
        <a:lstStyle/>
        <a:p>
          <a:endParaRPr lang="en-US"/>
        </a:p>
      </dgm:t>
    </dgm:pt>
    <dgm:pt modelId="{51D12455-E5A2-4634-B31F-F00CDFE24F6A}" type="sibTrans" cxnId="{9994B393-6B8E-420F-A2EB-5978039C9C78}">
      <dgm:prSet/>
      <dgm:spPr/>
      <dgm:t>
        <a:bodyPr/>
        <a:lstStyle/>
        <a:p>
          <a:endParaRPr lang="en-US"/>
        </a:p>
      </dgm:t>
    </dgm:pt>
    <dgm:pt modelId="{CDCAFDA3-C2EC-4C14-829E-5ADA6CDDF9C4}" type="pres">
      <dgm:prSet presAssocID="{480C3FB0-1317-46B2-9447-4CA7B049B0CC}" presName="root" presStyleCnt="0">
        <dgm:presLayoutVars>
          <dgm:dir/>
          <dgm:resizeHandles val="exact"/>
        </dgm:presLayoutVars>
      </dgm:prSet>
      <dgm:spPr/>
    </dgm:pt>
    <dgm:pt modelId="{561BFA01-4E5B-48F9-91A5-ADF5FA14A007}" type="pres">
      <dgm:prSet presAssocID="{0D5C7F4F-60DB-47B0-9A65-2ED8FD9223B4}" presName="compNode" presStyleCnt="0"/>
      <dgm:spPr/>
    </dgm:pt>
    <dgm:pt modelId="{9672E6D1-09A4-40D6-856D-3BADA81BF2A1}" type="pres">
      <dgm:prSet presAssocID="{0D5C7F4F-60DB-47B0-9A65-2ED8FD9223B4}" presName="bgRect" presStyleLbl="bgShp" presStyleIdx="0" presStyleCnt="3"/>
      <dgm:spPr/>
    </dgm:pt>
    <dgm:pt modelId="{059D3D8D-81E9-45C4-8597-59B495CA7CCE}" type="pres">
      <dgm:prSet presAssocID="{0D5C7F4F-60DB-47B0-9A65-2ED8FD9223B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196B285D-6142-43C3-9D36-8B69A4D3653A}" type="pres">
      <dgm:prSet presAssocID="{0D5C7F4F-60DB-47B0-9A65-2ED8FD9223B4}" presName="spaceRect" presStyleCnt="0"/>
      <dgm:spPr/>
    </dgm:pt>
    <dgm:pt modelId="{37322DA7-6FD4-4EB1-A20E-663AE7CC58AC}" type="pres">
      <dgm:prSet presAssocID="{0D5C7F4F-60DB-47B0-9A65-2ED8FD9223B4}" presName="parTx" presStyleLbl="revTx" presStyleIdx="0" presStyleCnt="5">
        <dgm:presLayoutVars>
          <dgm:chMax val="0"/>
          <dgm:chPref val="0"/>
        </dgm:presLayoutVars>
      </dgm:prSet>
      <dgm:spPr/>
    </dgm:pt>
    <dgm:pt modelId="{D27F2659-4036-4CCA-981B-FDDE9425CDC1}" type="pres">
      <dgm:prSet presAssocID="{8E9DEAC8-9910-4735-A77C-14A90EF15A3D}" presName="sibTrans" presStyleCnt="0"/>
      <dgm:spPr/>
    </dgm:pt>
    <dgm:pt modelId="{EF8B34B5-8AFE-4213-9976-10FF58B8CAC8}" type="pres">
      <dgm:prSet presAssocID="{C239D5C1-B731-423E-BA59-EA90556CB51C}" presName="compNode" presStyleCnt="0"/>
      <dgm:spPr/>
    </dgm:pt>
    <dgm:pt modelId="{4CE144F1-AE29-441F-A79C-2423B0B65FA8}" type="pres">
      <dgm:prSet presAssocID="{C239D5C1-B731-423E-BA59-EA90556CB51C}" presName="bgRect" presStyleLbl="bgShp" presStyleIdx="1" presStyleCnt="3"/>
      <dgm:spPr/>
    </dgm:pt>
    <dgm:pt modelId="{2EB021E4-E31A-43FC-8127-DEF2AC64C84A}" type="pres">
      <dgm:prSet presAssocID="{C239D5C1-B731-423E-BA59-EA90556CB5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1969904-89FC-406E-9548-6E3D97836693}" type="pres">
      <dgm:prSet presAssocID="{C239D5C1-B731-423E-BA59-EA90556CB51C}" presName="spaceRect" presStyleCnt="0"/>
      <dgm:spPr/>
    </dgm:pt>
    <dgm:pt modelId="{BF068905-8A51-4CE0-9A54-51644D433379}" type="pres">
      <dgm:prSet presAssocID="{C239D5C1-B731-423E-BA59-EA90556CB51C}" presName="parTx" presStyleLbl="revTx" presStyleIdx="1" presStyleCnt="5">
        <dgm:presLayoutVars>
          <dgm:chMax val="0"/>
          <dgm:chPref val="0"/>
        </dgm:presLayoutVars>
      </dgm:prSet>
      <dgm:spPr/>
    </dgm:pt>
    <dgm:pt modelId="{440FF31D-D31B-4D76-828F-771268E945B9}" type="pres">
      <dgm:prSet presAssocID="{C239D5C1-B731-423E-BA59-EA90556CB51C}" presName="desTx" presStyleLbl="revTx" presStyleIdx="2" presStyleCnt="5" custScaleX="166303">
        <dgm:presLayoutVars/>
      </dgm:prSet>
      <dgm:spPr/>
    </dgm:pt>
    <dgm:pt modelId="{A97180C1-11EB-4ABF-B85D-3723880C1C7A}" type="pres">
      <dgm:prSet presAssocID="{F3570AC0-E169-41D6-9788-CB6B1FF8EA17}" presName="sibTrans" presStyleCnt="0"/>
      <dgm:spPr/>
    </dgm:pt>
    <dgm:pt modelId="{8D5CA4BF-6705-411E-B108-B46DF79A2A94}" type="pres">
      <dgm:prSet presAssocID="{A306DC7A-0B93-499D-8D44-71A4294641FD}" presName="compNode" presStyleCnt="0"/>
      <dgm:spPr/>
    </dgm:pt>
    <dgm:pt modelId="{E19B90EF-EAC8-44BD-9EF4-72EB0B4B0973}" type="pres">
      <dgm:prSet presAssocID="{A306DC7A-0B93-499D-8D44-71A4294641FD}" presName="bgRect" presStyleLbl="bgShp" presStyleIdx="2" presStyleCnt="3"/>
      <dgm:spPr/>
    </dgm:pt>
    <dgm:pt modelId="{7EFE2BDA-8E26-4797-99F3-81BB0A547EF6}" type="pres">
      <dgm:prSet presAssocID="{A306DC7A-0B93-499D-8D44-71A4294641F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B31FF918-A99E-4766-ACAC-7316B091FF49}" type="pres">
      <dgm:prSet presAssocID="{A306DC7A-0B93-499D-8D44-71A4294641FD}" presName="spaceRect" presStyleCnt="0"/>
      <dgm:spPr/>
    </dgm:pt>
    <dgm:pt modelId="{5E4625B1-E947-4388-A08C-0B10D4BD9D8D}" type="pres">
      <dgm:prSet presAssocID="{A306DC7A-0B93-499D-8D44-71A4294641FD}" presName="parTx" presStyleLbl="revTx" presStyleIdx="3" presStyleCnt="5">
        <dgm:presLayoutVars>
          <dgm:chMax val="0"/>
          <dgm:chPref val="0"/>
        </dgm:presLayoutVars>
      </dgm:prSet>
      <dgm:spPr/>
    </dgm:pt>
    <dgm:pt modelId="{319E0181-5432-457E-869E-C3663A9789EA}" type="pres">
      <dgm:prSet presAssocID="{A306DC7A-0B93-499D-8D44-71A4294641FD}" presName="desTx" presStyleLbl="revTx" presStyleIdx="4" presStyleCnt="5" custScaleX="185160">
        <dgm:presLayoutVars/>
      </dgm:prSet>
      <dgm:spPr/>
    </dgm:pt>
  </dgm:ptLst>
  <dgm:cxnLst>
    <dgm:cxn modelId="{2FB08609-6310-40DE-80F1-802EC977F299}" type="presOf" srcId="{6F4BC7B7-291C-4839-B373-2FE54AB9DF69}" destId="{440FF31D-D31B-4D76-828F-771268E945B9}" srcOrd="0" destOrd="2" presId="urn:microsoft.com/office/officeart/2018/2/layout/IconVerticalSolidList"/>
    <dgm:cxn modelId="{62C39222-34DB-4DA7-B0A9-9E77A4C00587}" srcId="{C239D5C1-B731-423E-BA59-EA90556CB51C}" destId="{56FB15AF-05C3-4566-BD28-646594E3DE43}" srcOrd="1" destOrd="0" parTransId="{67A5032F-9B22-4137-9325-EA2486E42CDE}" sibTransId="{0E180229-094D-49E5-B520-C294F64559B6}"/>
    <dgm:cxn modelId="{560F7A2F-D1A5-4B77-BC75-7E98EB5DE608}" type="presOf" srcId="{359A00CC-1CBB-4F0A-98F8-3C9D19CBF170}" destId="{319E0181-5432-457E-869E-C3663A9789EA}" srcOrd="0" destOrd="2" presId="urn:microsoft.com/office/officeart/2018/2/layout/IconVerticalSolidList"/>
    <dgm:cxn modelId="{1394F73E-7219-471C-8DF7-2A6D0E2F6AF5}" srcId="{480C3FB0-1317-46B2-9447-4CA7B049B0CC}" destId="{C239D5C1-B731-423E-BA59-EA90556CB51C}" srcOrd="1" destOrd="0" parTransId="{AD3CC143-0239-4443-957A-A6ED4F1645B7}" sibTransId="{F3570AC0-E169-41D6-9788-CB6B1FF8EA17}"/>
    <dgm:cxn modelId="{80DCA05E-33D2-4A87-99DA-598978583374}" srcId="{A306DC7A-0B93-499D-8D44-71A4294641FD}" destId="{15DE168A-C1CC-4A16-BEF2-120E5E23BAB6}" srcOrd="0" destOrd="0" parTransId="{62208685-20A1-4438-8FA3-E2153A0A1431}" sibTransId="{F67B3C61-2A0E-4E3F-BBFA-2D71572DD594}"/>
    <dgm:cxn modelId="{F50D6A64-BF05-4C19-8C54-1D7D6DD52B23}" srcId="{C239D5C1-B731-423E-BA59-EA90556CB51C}" destId="{6F4BC7B7-291C-4839-B373-2FE54AB9DF69}" srcOrd="2" destOrd="0" parTransId="{66F21C27-E23F-41E6-A051-165957652420}" sibTransId="{A094B049-E375-4B38-B7F7-D536B0E92974}"/>
    <dgm:cxn modelId="{C6AA764C-39D1-4A3A-A4E2-F90726AE5CD1}" type="presOf" srcId="{3AE7F630-8478-486E-9CD7-B79FBDD4AFE3}" destId="{440FF31D-D31B-4D76-828F-771268E945B9}" srcOrd="0" destOrd="0" presId="urn:microsoft.com/office/officeart/2018/2/layout/IconVerticalSolidList"/>
    <dgm:cxn modelId="{43DC4A4D-E6DA-4DE7-AD49-E3E0B60E577A}" type="presOf" srcId="{C239D5C1-B731-423E-BA59-EA90556CB51C}" destId="{BF068905-8A51-4CE0-9A54-51644D433379}" srcOrd="0" destOrd="0" presId="urn:microsoft.com/office/officeart/2018/2/layout/IconVerticalSolidList"/>
    <dgm:cxn modelId="{64381B72-97A5-4D44-AD82-8C3BA2F1EE1F}" type="presOf" srcId="{480C3FB0-1317-46B2-9447-4CA7B049B0CC}" destId="{CDCAFDA3-C2EC-4C14-829E-5ADA6CDDF9C4}" srcOrd="0" destOrd="0" presId="urn:microsoft.com/office/officeart/2018/2/layout/IconVerticalSolidList"/>
    <dgm:cxn modelId="{0F6D2872-558A-4756-8EAB-9FF86BC93640}" type="presOf" srcId="{56FB15AF-05C3-4566-BD28-646594E3DE43}" destId="{440FF31D-D31B-4D76-828F-771268E945B9}" srcOrd="0" destOrd="1" presId="urn:microsoft.com/office/officeart/2018/2/layout/IconVerticalSolidList"/>
    <dgm:cxn modelId="{FA514558-7265-4653-9C3A-73CC2AF9B66A}" type="presOf" srcId="{A306DC7A-0B93-499D-8D44-71A4294641FD}" destId="{5E4625B1-E947-4388-A08C-0B10D4BD9D8D}" srcOrd="0" destOrd="0" presId="urn:microsoft.com/office/officeart/2018/2/layout/IconVerticalSolidList"/>
    <dgm:cxn modelId="{44C9DF79-5F66-4282-BF31-28007871AFBF}" srcId="{A306DC7A-0B93-499D-8D44-71A4294641FD}" destId="{D35AB692-2625-4C83-865D-B607EE1D4382}" srcOrd="1" destOrd="0" parTransId="{BE6A93E9-845B-442A-BBFB-2D6D0C352074}" sibTransId="{98F3CC38-5FF5-4264-B85E-70435826AD2E}"/>
    <dgm:cxn modelId="{9994B393-6B8E-420F-A2EB-5978039C9C78}" srcId="{A306DC7A-0B93-499D-8D44-71A4294641FD}" destId="{359A00CC-1CBB-4F0A-98F8-3C9D19CBF170}" srcOrd="2" destOrd="0" parTransId="{C618BD15-D668-44F1-A034-2B21D1E39FF0}" sibTransId="{51D12455-E5A2-4634-B31F-F00CDFE24F6A}"/>
    <dgm:cxn modelId="{93E0E4A0-9873-486D-8FBE-A3E9D7C5A3AD}" srcId="{480C3FB0-1317-46B2-9447-4CA7B049B0CC}" destId="{0D5C7F4F-60DB-47B0-9A65-2ED8FD9223B4}" srcOrd="0" destOrd="0" parTransId="{F1DB733F-2444-4D7F-B910-71673654A580}" sibTransId="{8E9DEAC8-9910-4735-A77C-14A90EF15A3D}"/>
    <dgm:cxn modelId="{C74864BF-1F36-4311-9231-6C753FD59543}" srcId="{C239D5C1-B731-423E-BA59-EA90556CB51C}" destId="{3AE7F630-8478-486E-9CD7-B79FBDD4AFE3}" srcOrd="0" destOrd="0" parTransId="{133B3EA8-4329-4DD0-B415-E14E6F60EF19}" sibTransId="{F258BE46-4210-40D7-A298-406C192154E3}"/>
    <dgm:cxn modelId="{CB52A8BF-6F42-4C98-8BB2-57CFB78444C8}" type="presOf" srcId="{15DE168A-C1CC-4A16-BEF2-120E5E23BAB6}" destId="{319E0181-5432-457E-869E-C3663A9789EA}" srcOrd="0" destOrd="0" presId="urn:microsoft.com/office/officeart/2018/2/layout/IconVerticalSolidList"/>
    <dgm:cxn modelId="{3AA514C2-6C8F-4DCD-96E3-93E29854CA5C}" type="presOf" srcId="{0D5C7F4F-60DB-47B0-9A65-2ED8FD9223B4}" destId="{37322DA7-6FD4-4EB1-A20E-663AE7CC58AC}" srcOrd="0" destOrd="0" presId="urn:microsoft.com/office/officeart/2018/2/layout/IconVerticalSolidList"/>
    <dgm:cxn modelId="{015C56C3-914D-4F51-9402-0F391F805806}" type="presOf" srcId="{D35AB692-2625-4C83-865D-B607EE1D4382}" destId="{319E0181-5432-457E-869E-C3663A9789EA}" srcOrd="0" destOrd="1" presId="urn:microsoft.com/office/officeart/2018/2/layout/IconVerticalSolidList"/>
    <dgm:cxn modelId="{92EB85D0-0DE6-40AD-8586-60C637455374}" srcId="{480C3FB0-1317-46B2-9447-4CA7B049B0CC}" destId="{A306DC7A-0B93-499D-8D44-71A4294641FD}" srcOrd="2" destOrd="0" parTransId="{C8170939-86CD-4A20-8FAD-0ECC041A8EDD}" sibTransId="{6354B7BE-DEB5-411A-831A-4691047647B0}"/>
    <dgm:cxn modelId="{CC4342AF-12CC-49EE-92AE-4557947A0A9F}" type="presParOf" srcId="{CDCAFDA3-C2EC-4C14-829E-5ADA6CDDF9C4}" destId="{561BFA01-4E5B-48F9-91A5-ADF5FA14A007}" srcOrd="0" destOrd="0" presId="urn:microsoft.com/office/officeart/2018/2/layout/IconVerticalSolidList"/>
    <dgm:cxn modelId="{4C54D83B-9585-42DD-8BA2-EC7485421A95}" type="presParOf" srcId="{561BFA01-4E5B-48F9-91A5-ADF5FA14A007}" destId="{9672E6D1-09A4-40D6-856D-3BADA81BF2A1}" srcOrd="0" destOrd="0" presId="urn:microsoft.com/office/officeart/2018/2/layout/IconVerticalSolidList"/>
    <dgm:cxn modelId="{34AE5024-467D-4A2E-8A7A-B39A66B3826A}" type="presParOf" srcId="{561BFA01-4E5B-48F9-91A5-ADF5FA14A007}" destId="{059D3D8D-81E9-45C4-8597-59B495CA7CCE}" srcOrd="1" destOrd="0" presId="urn:microsoft.com/office/officeart/2018/2/layout/IconVerticalSolidList"/>
    <dgm:cxn modelId="{A79FF6AB-852A-4B6C-8467-A9DD0F688474}" type="presParOf" srcId="{561BFA01-4E5B-48F9-91A5-ADF5FA14A007}" destId="{196B285D-6142-43C3-9D36-8B69A4D3653A}" srcOrd="2" destOrd="0" presId="urn:microsoft.com/office/officeart/2018/2/layout/IconVerticalSolidList"/>
    <dgm:cxn modelId="{7A13D878-1A56-4246-B630-9DBC33F3E24C}" type="presParOf" srcId="{561BFA01-4E5B-48F9-91A5-ADF5FA14A007}" destId="{37322DA7-6FD4-4EB1-A20E-663AE7CC58AC}" srcOrd="3" destOrd="0" presId="urn:microsoft.com/office/officeart/2018/2/layout/IconVerticalSolidList"/>
    <dgm:cxn modelId="{1E1EFE87-44BE-4CD4-929D-889A3264BA7F}" type="presParOf" srcId="{CDCAFDA3-C2EC-4C14-829E-5ADA6CDDF9C4}" destId="{D27F2659-4036-4CCA-981B-FDDE9425CDC1}" srcOrd="1" destOrd="0" presId="urn:microsoft.com/office/officeart/2018/2/layout/IconVerticalSolidList"/>
    <dgm:cxn modelId="{64DEA6CE-F539-416E-9AB9-6DC8327210FC}" type="presParOf" srcId="{CDCAFDA3-C2EC-4C14-829E-5ADA6CDDF9C4}" destId="{EF8B34B5-8AFE-4213-9976-10FF58B8CAC8}" srcOrd="2" destOrd="0" presId="urn:microsoft.com/office/officeart/2018/2/layout/IconVerticalSolidList"/>
    <dgm:cxn modelId="{BC45B477-F10F-4ACD-8D55-850E7DD56664}" type="presParOf" srcId="{EF8B34B5-8AFE-4213-9976-10FF58B8CAC8}" destId="{4CE144F1-AE29-441F-A79C-2423B0B65FA8}" srcOrd="0" destOrd="0" presId="urn:microsoft.com/office/officeart/2018/2/layout/IconVerticalSolidList"/>
    <dgm:cxn modelId="{0F5E0F45-0536-4FA6-8514-D6468991DC82}" type="presParOf" srcId="{EF8B34B5-8AFE-4213-9976-10FF58B8CAC8}" destId="{2EB021E4-E31A-43FC-8127-DEF2AC64C84A}" srcOrd="1" destOrd="0" presId="urn:microsoft.com/office/officeart/2018/2/layout/IconVerticalSolidList"/>
    <dgm:cxn modelId="{D86AA0C9-B4BD-4A84-8A30-11D3BEDAC921}" type="presParOf" srcId="{EF8B34B5-8AFE-4213-9976-10FF58B8CAC8}" destId="{D1969904-89FC-406E-9548-6E3D97836693}" srcOrd="2" destOrd="0" presId="urn:microsoft.com/office/officeart/2018/2/layout/IconVerticalSolidList"/>
    <dgm:cxn modelId="{F8F0D94F-B2A6-462B-A266-2A22BD4AC029}" type="presParOf" srcId="{EF8B34B5-8AFE-4213-9976-10FF58B8CAC8}" destId="{BF068905-8A51-4CE0-9A54-51644D433379}" srcOrd="3" destOrd="0" presId="urn:microsoft.com/office/officeart/2018/2/layout/IconVerticalSolidList"/>
    <dgm:cxn modelId="{AE9E5772-3D6D-40CB-B483-C8FC5482E39F}" type="presParOf" srcId="{EF8B34B5-8AFE-4213-9976-10FF58B8CAC8}" destId="{440FF31D-D31B-4D76-828F-771268E945B9}" srcOrd="4" destOrd="0" presId="urn:microsoft.com/office/officeart/2018/2/layout/IconVerticalSolidList"/>
    <dgm:cxn modelId="{94187757-9150-4D3A-A6F1-25D3104A3B5B}" type="presParOf" srcId="{CDCAFDA3-C2EC-4C14-829E-5ADA6CDDF9C4}" destId="{A97180C1-11EB-4ABF-B85D-3723880C1C7A}" srcOrd="3" destOrd="0" presId="urn:microsoft.com/office/officeart/2018/2/layout/IconVerticalSolidList"/>
    <dgm:cxn modelId="{7B7BDD66-791F-4EC1-801E-18021B38E408}" type="presParOf" srcId="{CDCAFDA3-C2EC-4C14-829E-5ADA6CDDF9C4}" destId="{8D5CA4BF-6705-411E-B108-B46DF79A2A94}" srcOrd="4" destOrd="0" presId="urn:microsoft.com/office/officeart/2018/2/layout/IconVerticalSolidList"/>
    <dgm:cxn modelId="{2349CCF9-18A9-4450-BF0C-D83D46905294}" type="presParOf" srcId="{8D5CA4BF-6705-411E-B108-B46DF79A2A94}" destId="{E19B90EF-EAC8-44BD-9EF4-72EB0B4B0973}" srcOrd="0" destOrd="0" presId="urn:microsoft.com/office/officeart/2018/2/layout/IconVerticalSolidList"/>
    <dgm:cxn modelId="{2B5798E7-E661-4E04-9138-646EFE447B5B}" type="presParOf" srcId="{8D5CA4BF-6705-411E-B108-B46DF79A2A94}" destId="{7EFE2BDA-8E26-4797-99F3-81BB0A547EF6}" srcOrd="1" destOrd="0" presId="urn:microsoft.com/office/officeart/2018/2/layout/IconVerticalSolidList"/>
    <dgm:cxn modelId="{FCAB3AF9-6EAA-430B-AE06-252035C65914}" type="presParOf" srcId="{8D5CA4BF-6705-411E-B108-B46DF79A2A94}" destId="{B31FF918-A99E-4766-ACAC-7316B091FF49}" srcOrd="2" destOrd="0" presId="urn:microsoft.com/office/officeart/2018/2/layout/IconVerticalSolidList"/>
    <dgm:cxn modelId="{64BFBA21-7A68-4472-800E-C81BA3FE8B31}" type="presParOf" srcId="{8D5CA4BF-6705-411E-B108-B46DF79A2A94}" destId="{5E4625B1-E947-4388-A08C-0B10D4BD9D8D}" srcOrd="3" destOrd="0" presId="urn:microsoft.com/office/officeart/2018/2/layout/IconVerticalSolidList"/>
    <dgm:cxn modelId="{9A3595E9-35EF-4625-BC23-FBB319C50760}" type="presParOf" srcId="{8D5CA4BF-6705-411E-B108-B46DF79A2A94}" destId="{319E0181-5432-457E-869E-C3663A9789EA}"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4DBE71-CCC1-479E-9F1D-34EEF3B849D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4CF5E2-09E3-4A5C-8D0B-365A35F09A8B}">
      <dgm:prSet/>
      <dgm:spPr/>
      <dgm:t>
        <a:bodyPr/>
        <a:lstStyle/>
        <a:p>
          <a:pPr>
            <a:lnSpc>
              <a:spcPct val="100000"/>
            </a:lnSpc>
          </a:pPr>
          <a:r>
            <a:rPr lang="en-US"/>
            <a:t>Used SLSQP optimizer with nonlinear constraints</a:t>
          </a:r>
        </a:p>
      </dgm:t>
    </dgm:pt>
    <dgm:pt modelId="{50EBFCD7-21E7-4C59-8686-E03F0F32D9C1}" type="parTrans" cxnId="{0BA5C453-1A7B-41BB-B60F-2C62F089A67D}">
      <dgm:prSet/>
      <dgm:spPr/>
      <dgm:t>
        <a:bodyPr/>
        <a:lstStyle/>
        <a:p>
          <a:endParaRPr lang="en-US"/>
        </a:p>
      </dgm:t>
    </dgm:pt>
    <dgm:pt modelId="{869F3E95-096A-42ED-8DDC-6BF4F5B2FB85}" type="sibTrans" cxnId="{0BA5C453-1A7B-41BB-B60F-2C62F089A67D}">
      <dgm:prSet/>
      <dgm:spPr/>
      <dgm:t>
        <a:bodyPr/>
        <a:lstStyle/>
        <a:p>
          <a:endParaRPr lang="en-US"/>
        </a:p>
      </dgm:t>
    </dgm:pt>
    <dgm:pt modelId="{5561EB7D-45B0-45AE-A45E-6B829115E08E}">
      <dgm:prSet/>
      <dgm:spPr/>
      <dgm:t>
        <a:bodyPr/>
        <a:lstStyle/>
        <a:p>
          <a:pPr>
            <a:lnSpc>
              <a:spcPct val="100000"/>
            </a:lnSpc>
          </a:pPr>
          <a:r>
            <a:rPr lang="en-US"/>
            <a:t>Ran 50 trials from different starting points </a:t>
          </a:r>
        </a:p>
      </dgm:t>
    </dgm:pt>
    <dgm:pt modelId="{91A98B92-B45D-4480-97EF-30199CA2435B}" type="parTrans" cxnId="{CCEDB148-DCC7-449D-AB29-442E7031C533}">
      <dgm:prSet/>
      <dgm:spPr/>
      <dgm:t>
        <a:bodyPr/>
        <a:lstStyle/>
        <a:p>
          <a:endParaRPr lang="en-US"/>
        </a:p>
      </dgm:t>
    </dgm:pt>
    <dgm:pt modelId="{9473834D-F837-4734-BA72-8496781B5EC6}" type="sibTrans" cxnId="{CCEDB148-DCC7-449D-AB29-442E7031C533}">
      <dgm:prSet/>
      <dgm:spPr/>
      <dgm:t>
        <a:bodyPr/>
        <a:lstStyle/>
        <a:p>
          <a:endParaRPr lang="en-US"/>
        </a:p>
      </dgm:t>
    </dgm:pt>
    <dgm:pt modelId="{C3DFB66B-B147-4FF4-B510-D18594CF4D26}">
      <dgm:prSet/>
      <dgm:spPr/>
      <dgm:t>
        <a:bodyPr/>
        <a:lstStyle/>
        <a:p>
          <a:pPr>
            <a:lnSpc>
              <a:spcPct val="100000"/>
            </a:lnSpc>
          </a:pPr>
          <a:r>
            <a:rPr lang="en-US"/>
            <a:t>centered around best random sample</a:t>
          </a:r>
        </a:p>
      </dgm:t>
    </dgm:pt>
    <dgm:pt modelId="{7531A7B2-7A59-4C78-8EEA-34577F076039}" type="parTrans" cxnId="{B018A996-EB49-4346-94B3-6B70D652430A}">
      <dgm:prSet/>
      <dgm:spPr/>
      <dgm:t>
        <a:bodyPr/>
        <a:lstStyle/>
        <a:p>
          <a:endParaRPr lang="en-US"/>
        </a:p>
      </dgm:t>
    </dgm:pt>
    <dgm:pt modelId="{380C93FE-BECD-4788-82A3-6D4B4FCA6A85}" type="sibTrans" cxnId="{B018A996-EB49-4346-94B3-6B70D652430A}">
      <dgm:prSet/>
      <dgm:spPr/>
      <dgm:t>
        <a:bodyPr/>
        <a:lstStyle/>
        <a:p>
          <a:endParaRPr lang="en-US"/>
        </a:p>
      </dgm:t>
    </dgm:pt>
    <dgm:pt modelId="{E5693EDE-CC82-43B2-9E4E-84C1BAAD6086}">
      <dgm:prSet/>
      <dgm:spPr/>
      <dgm:t>
        <a:bodyPr/>
        <a:lstStyle/>
        <a:p>
          <a:pPr>
            <a:lnSpc>
              <a:spcPct val="100000"/>
            </a:lnSpc>
          </a:pPr>
          <a:r>
            <a:rPr lang="en-US"/>
            <a:t>within 10% of variable range</a:t>
          </a:r>
        </a:p>
      </dgm:t>
    </dgm:pt>
    <dgm:pt modelId="{5A4CCD9F-4A1D-459A-A2F1-E652D95B1063}" type="parTrans" cxnId="{C3ADE720-7CBB-46C3-A445-4902613FB339}">
      <dgm:prSet/>
      <dgm:spPr/>
      <dgm:t>
        <a:bodyPr/>
        <a:lstStyle/>
        <a:p>
          <a:endParaRPr lang="en-US"/>
        </a:p>
      </dgm:t>
    </dgm:pt>
    <dgm:pt modelId="{97799323-30A8-4AC8-AC74-F2E7F51E8D85}" type="sibTrans" cxnId="{C3ADE720-7CBB-46C3-A445-4902613FB339}">
      <dgm:prSet/>
      <dgm:spPr/>
      <dgm:t>
        <a:bodyPr/>
        <a:lstStyle/>
        <a:p>
          <a:endParaRPr lang="en-US"/>
        </a:p>
      </dgm:t>
    </dgm:pt>
    <dgm:pt modelId="{442933D6-CB12-437B-980E-59A946E78A39}" type="pres">
      <dgm:prSet presAssocID="{B84DBE71-CCC1-479E-9F1D-34EEF3B849DA}" presName="root" presStyleCnt="0">
        <dgm:presLayoutVars>
          <dgm:dir/>
          <dgm:resizeHandles val="exact"/>
        </dgm:presLayoutVars>
      </dgm:prSet>
      <dgm:spPr/>
    </dgm:pt>
    <dgm:pt modelId="{A6885897-72A8-47ED-8966-7705F6A8E9BC}" type="pres">
      <dgm:prSet presAssocID="{994CF5E2-09E3-4A5C-8D0B-365A35F09A8B}" presName="compNode" presStyleCnt="0"/>
      <dgm:spPr/>
    </dgm:pt>
    <dgm:pt modelId="{52DA6B09-761D-448E-868A-83FA39D1D77E}" type="pres">
      <dgm:prSet presAssocID="{994CF5E2-09E3-4A5C-8D0B-365A35F09A8B}" presName="bgRect" presStyleLbl="bgShp" presStyleIdx="0" presStyleCnt="2"/>
      <dgm:spPr/>
    </dgm:pt>
    <dgm:pt modelId="{A7B84667-B3F4-4AE0-A84F-13999F12DE3C}" type="pres">
      <dgm:prSet presAssocID="{994CF5E2-09E3-4A5C-8D0B-365A35F09A8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0A2336D-EE12-4A05-A32D-086B349E85A7}" type="pres">
      <dgm:prSet presAssocID="{994CF5E2-09E3-4A5C-8D0B-365A35F09A8B}" presName="spaceRect" presStyleCnt="0"/>
      <dgm:spPr/>
    </dgm:pt>
    <dgm:pt modelId="{ECE0ED09-EA76-4A0D-AA88-A338EE27BD86}" type="pres">
      <dgm:prSet presAssocID="{994CF5E2-09E3-4A5C-8D0B-365A35F09A8B}" presName="parTx" presStyleLbl="revTx" presStyleIdx="0" presStyleCnt="3">
        <dgm:presLayoutVars>
          <dgm:chMax val="0"/>
          <dgm:chPref val="0"/>
        </dgm:presLayoutVars>
      </dgm:prSet>
      <dgm:spPr/>
    </dgm:pt>
    <dgm:pt modelId="{83FFADD0-724C-44B1-A565-88F3CF55E321}" type="pres">
      <dgm:prSet presAssocID="{869F3E95-096A-42ED-8DDC-6BF4F5B2FB85}" presName="sibTrans" presStyleCnt="0"/>
      <dgm:spPr/>
    </dgm:pt>
    <dgm:pt modelId="{AD37F50A-3D4A-48D9-9E59-A9DC2C8BD6E4}" type="pres">
      <dgm:prSet presAssocID="{5561EB7D-45B0-45AE-A45E-6B829115E08E}" presName="compNode" presStyleCnt="0"/>
      <dgm:spPr/>
    </dgm:pt>
    <dgm:pt modelId="{DADBA373-B3A7-4ED0-8D73-6F9E47233A2C}" type="pres">
      <dgm:prSet presAssocID="{5561EB7D-45B0-45AE-A45E-6B829115E08E}" presName="bgRect" presStyleLbl="bgShp" presStyleIdx="1" presStyleCnt="2"/>
      <dgm:spPr/>
    </dgm:pt>
    <dgm:pt modelId="{8FAC2F50-1700-4D0B-BF66-E1B274C342F5}" type="pres">
      <dgm:prSet presAssocID="{5561EB7D-45B0-45AE-A45E-6B829115E08E}"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Flag with solid fill"/>
        </a:ext>
      </dgm:extLst>
    </dgm:pt>
    <dgm:pt modelId="{F885FC0B-0485-4CDD-9141-79B55545B8A1}" type="pres">
      <dgm:prSet presAssocID="{5561EB7D-45B0-45AE-A45E-6B829115E08E}" presName="spaceRect" presStyleCnt="0"/>
      <dgm:spPr/>
    </dgm:pt>
    <dgm:pt modelId="{D7A32777-BD78-486C-AEB4-4839536CBA4B}" type="pres">
      <dgm:prSet presAssocID="{5561EB7D-45B0-45AE-A45E-6B829115E08E}" presName="parTx" presStyleLbl="revTx" presStyleIdx="1" presStyleCnt="3">
        <dgm:presLayoutVars>
          <dgm:chMax val="0"/>
          <dgm:chPref val="0"/>
        </dgm:presLayoutVars>
      </dgm:prSet>
      <dgm:spPr/>
    </dgm:pt>
    <dgm:pt modelId="{083FB864-309D-459A-8B25-D96AA1BD83A0}" type="pres">
      <dgm:prSet presAssocID="{5561EB7D-45B0-45AE-A45E-6B829115E08E}" presName="desTx" presStyleLbl="revTx" presStyleIdx="2" presStyleCnt="3">
        <dgm:presLayoutVars/>
      </dgm:prSet>
      <dgm:spPr/>
    </dgm:pt>
  </dgm:ptLst>
  <dgm:cxnLst>
    <dgm:cxn modelId="{C3ADE720-7CBB-46C3-A445-4902613FB339}" srcId="{5561EB7D-45B0-45AE-A45E-6B829115E08E}" destId="{E5693EDE-CC82-43B2-9E4E-84C1BAAD6086}" srcOrd="1" destOrd="0" parTransId="{5A4CCD9F-4A1D-459A-A2F1-E652D95B1063}" sibTransId="{97799323-30A8-4AC8-AC74-F2E7F51E8D85}"/>
    <dgm:cxn modelId="{AD9E393B-2336-403F-AEC1-61D1B30E3C5B}" type="presOf" srcId="{5561EB7D-45B0-45AE-A45E-6B829115E08E}" destId="{D7A32777-BD78-486C-AEB4-4839536CBA4B}" srcOrd="0" destOrd="0" presId="urn:microsoft.com/office/officeart/2018/2/layout/IconVerticalSolidList"/>
    <dgm:cxn modelId="{CCEDB148-DCC7-449D-AB29-442E7031C533}" srcId="{B84DBE71-CCC1-479E-9F1D-34EEF3B849DA}" destId="{5561EB7D-45B0-45AE-A45E-6B829115E08E}" srcOrd="1" destOrd="0" parTransId="{91A98B92-B45D-4480-97EF-30199CA2435B}" sibTransId="{9473834D-F837-4734-BA72-8496781B5EC6}"/>
    <dgm:cxn modelId="{F757634B-F10D-4E7D-AC90-24D6785E17AB}" type="presOf" srcId="{B84DBE71-CCC1-479E-9F1D-34EEF3B849DA}" destId="{442933D6-CB12-437B-980E-59A946E78A39}" srcOrd="0" destOrd="0" presId="urn:microsoft.com/office/officeart/2018/2/layout/IconVerticalSolidList"/>
    <dgm:cxn modelId="{0BA5C453-1A7B-41BB-B60F-2C62F089A67D}" srcId="{B84DBE71-CCC1-479E-9F1D-34EEF3B849DA}" destId="{994CF5E2-09E3-4A5C-8D0B-365A35F09A8B}" srcOrd="0" destOrd="0" parTransId="{50EBFCD7-21E7-4C59-8686-E03F0F32D9C1}" sibTransId="{869F3E95-096A-42ED-8DDC-6BF4F5B2FB85}"/>
    <dgm:cxn modelId="{FB12E477-2A55-4EA5-BF8E-2A859442A810}" type="presOf" srcId="{E5693EDE-CC82-43B2-9E4E-84C1BAAD6086}" destId="{083FB864-309D-459A-8B25-D96AA1BD83A0}" srcOrd="0" destOrd="1" presId="urn:microsoft.com/office/officeart/2018/2/layout/IconVerticalSolidList"/>
    <dgm:cxn modelId="{B018A996-EB49-4346-94B3-6B70D652430A}" srcId="{5561EB7D-45B0-45AE-A45E-6B829115E08E}" destId="{C3DFB66B-B147-4FF4-B510-D18594CF4D26}" srcOrd="0" destOrd="0" parTransId="{7531A7B2-7A59-4C78-8EEA-34577F076039}" sibTransId="{380C93FE-BECD-4788-82A3-6D4B4FCA6A85}"/>
    <dgm:cxn modelId="{6CA62ECE-8772-45A9-BDC2-00C43BAF7F67}" type="presOf" srcId="{994CF5E2-09E3-4A5C-8D0B-365A35F09A8B}" destId="{ECE0ED09-EA76-4A0D-AA88-A338EE27BD86}" srcOrd="0" destOrd="0" presId="urn:microsoft.com/office/officeart/2018/2/layout/IconVerticalSolidList"/>
    <dgm:cxn modelId="{BFAF48EF-1046-4F72-8B23-A8630A49EE5A}" type="presOf" srcId="{C3DFB66B-B147-4FF4-B510-D18594CF4D26}" destId="{083FB864-309D-459A-8B25-D96AA1BD83A0}" srcOrd="0" destOrd="0" presId="urn:microsoft.com/office/officeart/2018/2/layout/IconVerticalSolidList"/>
    <dgm:cxn modelId="{47CB64DF-ECB2-428C-8892-6390F11C2D28}" type="presParOf" srcId="{442933D6-CB12-437B-980E-59A946E78A39}" destId="{A6885897-72A8-47ED-8966-7705F6A8E9BC}" srcOrd="0" destOrd="0" presId="urn:microsoft.com/office/officeart/2018/2/layout/IconVerticalSolidList"/>
    <dgm:cxn modelId="{2E8E9A77-D437-47EE-BF56-0705F42D05A1}" type="presParOf" srcId="{A6885897-72A8-47ED-8966-7705F6A8E9BC}" destId="{52DA6B09-761D-448E-868A-83FA39D1D77E}" srcOrd="0" destOrd="0" presId="urn:microsoft.com/office/officeart/2018/2/layout/IconVerticalSolidList"/>
    <dgm:cxn modelId="{3BE213FF-23AC-481F-91A3-A5C9D3A659A3}" type="presParOf" srcId="{A6885897-72A8-47ED-8966-7705F6A8E9BC}" destId="{A7B84667-B3F4-4AE0-A84F-13999F12DE3C}" srcOrd="1" destOrd="0" presId="urn:microsoft.com/office/officeart/2018/2/layout/IconVerticalSolidList"/>
    <dgm:cxn modelId="{475BE731-99A5-48BE-ADA7-C9B5B4746FA8}" type="presParOf" srcId="{A6885897-72A8-47ED-8966-7705F6A8E9BC}" destId="{F0A2336D-EE12-4A05-A32D-086B349E85A7}" srcOrd="2" destOrd="0" presId="urn:microsoft.com/office/officeart/2018/2/layout/IconVerticalSolidList"/>
    <dgm:cxn modelId="{3AC08B96-4589-4942-A27F-580ECC823076}" type="presParOf" srcId="{A6885897-72A8-47ED-8966-7705F6A8E9BC}" destId="{ECE0ED09-EA76-4A0D-AA88-A338EE27BD86}" srcOrd="3" destOrd="0" presId="urn:microsoft.com/office/officeart/2018/2/layout/IconVerticalSolidList"/>
    <dgm:cxn modelId="{7774D01F-6B9B-4355-9474-ADE7D0CAC3FB}" type="presParOf" srcId="{442933D6-CB12-437B-980E-59A946E78A39}" destId="{83FFADD0-724C-44B1-A565-88F3CF55E321}" srcOrd="1" destOrd="0" presId="urn:microsoft.com/office/officeart/2018/2/layout/IconVerticalSolidList"/>
    <dgm:cxn modelId="{976FA005-E58D-47A4-BA64-8EA252A6F00C}" type="presParOf" srcId="{442933D6-CB12-437B-980E-59A946E78A39}" destId="{AD37F50A-3D4A-48D9-9E59-A9DC2C8BD6E4}" srcOrd="2" destOrd="0" presId="urn:microsoft.com/office/officeart/2018/2/layout/IconVerticalSolidList"/>
    <dgm:cxn modelId="{13536CC5-1ADF-4C25-9D5D-3C783B2E8FB5}" type="presParOf" srcId="{AD37F50A-3D4A-48D9-9E59-A9DC2C8BD6E4}" destId="{DADBA373-B3A7-4ED0-8D73-6F9E47233A2C}" srcOrd="0" destOrd="0" presId="urn:microsoft.com/office/officeart/2018/2/layout/IconVerticalSolidList"/>
    <dgm:cxn modelId="{EE118336-BD51-4D7E-855B-78776A5BCA01}" type="presParOf" srcId="{AD37F50A-3D4A-48D9-9E59-A9DC2C8BD6E4}" destId="{8FAC2F50-1700-4D0B-BF66-E1B274C342F5}" srcOrd="1" destOrd="0" presId="urn:microsoft.com/office/officeart/2018/2/layout/IconVerticalSolidList"/>
    <dgm:cxn modelId="{87CB5DC5-353C-4D03-8C03-9033E36B7D3E}" type="presParOf" srcId="{AD37F50A-3D4A-48D9-9E59-A9DC2C8BD6E4}" destId="{F885FC0B-0485-4CDD-9141-79B55545B8A1}" srcOrd="2" destOrd="0" presId="urn:microsoft.com/office/officeart/2018/2/layout/IconVerticalSolidList"/>
    <dgm:cxn modelId="{FE53CAFD-A3AB-49A3-83C8-7D0890973886}" type="presParOf" srcId="{AD37F50A-3D4A-48D9-9E59-A9DC2C8BD6E4}" destId="{D7A32777-BD78-486C-AEB4-4839536CBA4B}" srcOrd="3" destOrd="0" presId="urn:microsoft.com/office/officeart/2018/2/layout/IconVerticalSolidList"/>
    <dgm:cxn modelId="{1AF53509-D0E2-4D39-80A7-DE29793F5F24}" type="presParOf" srcId="{AD37F50A-3D4A-48D9-9E59-A9DC2C8BD6E4}" destId="{083FB864-309D-459A-8B25-D96AA1BD83A0}"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9C085-455C-45E6-9B88-42CE8E469AD4}">
      <dsp:nvSpPr>
        <dsp:cNvPr id="0" name=""/>
        <dsp:cNvSpPr/>
      </dsp:nvSpPr>
      <dsp:spPr>
        <a:xfrm>
          <a:off x="0" y="1174740"/>
          <a:ext cx="6900512" cy="928041"/>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1" kern="1200"/>
            <a:t>Dataset Input Ranges:</a:t>
          </a:r>
          <a:endParaRPr lang="en-US" sz="3600" kern="1200"/>
        </a:p>
      </dsp:txBody>
      <dsp:txXfrm>
        <a:off x="45303" y="1220043"/>
        <a:ext cx="6809906" cy="837435"/>
      </dsp:txXfrm>
    </dsp:sp>
    <dsp:sp modelId="{0630879E-F776-4B62-BD4F-80F79FE76868}">
      <dsp:nvSpPr>
        <dsp:cNvPr id="0" name=""/>
        <dsp:cNvSpPr/>
      </dsp:nvSpPr>
      <dsp:spPr>
        <a:xfrm>
          <a:off x="0" y="2144985"/>
          <a:ext cx="6900512" cy="124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a:t>10mm &lt; Cell Size X &lt; 25 mm</a:t>
          </a:r>
        </a:p>
        <a:p>
          <a:pPr marL="228600" lvl="1" indent="-228600" algn="l" defTabSz="1066800">
            <a:lnSpc>
              <a:spcPct val="90000"/>
            </a:lnSpc>
            <a:spcBef>
              <a:spcPct val="0"/>
            </a:spcBef>
            <a:spcAft>
              <a:spcPct val="20000"/>
            </a:spcAft>
            <a:buChar char="•"/>
          </a:pPr>
          <a:r>
            <a:rPr lang="en-US" sz="2400" kern="1200"/>
            <a:t>10mm &lt; Cell Size Y/Z &lt; 25 mm</a:t>
          </a:r>
        </a:p>
        <a:p>
          <a:pPr marL="228600" lvl="1" indent="-228600" algn="l" defTabSz="1066800">
            <a:lnSpc>
              <a:spcPct val="90000"/>
            </a:lnSpc>
            <a:spcBef>
              <a:spcPct val="0"/>
            </a:spcBef>
            <a:spcAft>
              <a:spcPct val="20000"/>
            </a:spcAft>
            <a:buChar char="•"/>
          </a:pPr>
          <a:r>
            <a:rPr lang="en-US" sz="2400" kern="1200"/>
            <a:t>2500 mm/s &lt; Inlet Velocity &lt; 3500 mm/s</a:t>
          </a:r>
        </a:p>
      </dsp:txBody>
      <dsp:txXfrm>
        <a:off x="0" y="2144985"/>
        <a:ext cx="6900512" cy="1244587"/>
      </dsp:txXfrm>
    </dsp:sp>
    <dsp:sp modelId="{B10681E4-0545-41CC-9584-D0681D91388A}">
      <dsp:nvSpPr>
        <dsp:cNvPr id="0" name=""/>
        <dsp:cNvSpPr/>
      </dsp:nvSpPr>
      <dsp:spPr>
        <a:xfrm>
          <a:off x="0" y="3804568"/>
          <a:ext cx="6900512" cy="929623"/>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1" kern="1200"/>
            <a:t>Generated 1000 data points</a:t>
          </a:r>
        </a:p>
      </dsp:txBody>
      <dsp:txXfrm>
        <a:off x="45380" y="3849948"/>
        <a:ext cx="6809752" cy="8388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3969C-254E-4161-8AAA-43C8A1351C96}">
      <dsp:nvSpPr>
        <dsp:cNvPr id="0" name=""/>
        <dsp:cNvSpPr/>
      </dsp:nvSpPr>
      <dsp:spPr>
        <a:xfrm>
          <a:off x="682185" y="0"/>
          <a:ext cx="5536141" cy="5536141"/>
        </a:xfrm>
        <a:prstGeom prst="diamond">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B9BF0D-D347-4273-B0E6-8D806E8DDCFF}">
      <dsp:nvSpPr>
        <dsp:cNvPr id="0" name=""/>
        <dsp:cNvSpPr/>
      </dsp:nvSpPr>
      <dsp:spPr>
        <a:xfrm>
          <a:off x="1208118" y="525933"/>
          <a:ext cx="2159094" cy="21590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Features:</a:t>
          </a:r>
        </a:p>
        <a:p>
          <a:pPr marL="0" lvl="0" indent="0" algn="ctr" defTabSz="844550">
            <a:lnSpc>
              <a:spcPct val="90000"/>
            </a:lnSpc>
            <a:spcBef>
              <a:spcPct val="0"/>
            </a:spcBef>
            <a:spcAft>
              <a:spcPct val="35000"/>
            </a:spcAft>
            <a:buNone/>
          </a:pPr>
          <a:r>
            <a:rPr lang="en-US" sz="1900" b="1" kern="1200"/>
            <a:t>- </a:t>
          </a:r>
          <a:r>
            <a:rPr lang="en-US" sz="1900" kern="1200"/>
            <a:t>X Cell Size</a:t>
          </a:r>
        </a:p>
        <a:p>
          <a:pPr marL="0" lvl="0" indent="0" algn="ctr" defTabSz="844550">
            <a:lnSpc>
              <a:spcPct val="90000"/>
            </a:lnSpc>
            <a:spcBef>
              <a:spcPct val="0"/>
            </a:spcBef>
            <a:spcAft>
              <a:spcPct val="35000"/>
            </a:spcAft>
            <a:buNone/>
          </a:pPr>
          <a:r>
            <a:rPr lang="en-US" sz="1900" b="1" kern="1200"/>
            <a:t>-</a:t>
          </a:r>
          <a:r>
            <a:rPr lang="en-US" sz="1900" kern="1200"/>
            <a:t> Y/Z Cell size</a:t>
          </a:r>
        </a:p>
        <a:p>
          <a:pPr marL="0" lvl="0" indent="0" algn="ctr" defTabSz="844550">
            <a:lnSpc>
              <a:spcPct val="90000"/>
            </a:lnSpc>
            <a:spcBef>
              <a:spcPct val="0"/>
            </a:spcBef>
            <a:spcAft>
              <a:spcPct val="35000"/>
            </a:spcAft>
            <a:buNone/>
          </a:pPr>
          <a:r>
            <a:rPr lang="en-US" sz="1900" b="1" kern="1200"/>
            <a:t>-</a:t>
          </a:r>
          <a:r>
            <a:rPr lang="en-US" sz="1900" kern="1200"/>
            <a:t> Inlet Velocity</a:t>
          </a:r>
        </a:p>
      </dsp:txBody>
      <dsp:txXfrm>
        <a:off x="1313516" y="631331"/>
        <a:ext cx="1948298" cy="1948298"/>
      </dsp:txXfrm>
    </dsp:sp>
    <dsp:sp modelId="{B199F094-EC47-43D7-B719-F2A8A429DD97}">
      <dsp:nvSpPr>
        <dsp:cNvPr id="0" name=""/>
        <dsp:cNvSpPr/>
      </dsp:nvSpPr>
      <dsp:spPr>
        <a:xfrm>
          <a:off x="3533298" y="525933"/>
          <a:ext cx="2159094" cy="21590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Targets:</a:t>
          </a:r>
        </a:p>
        <a:p>
          <a:pPr marL="0" lvl="0" indent="0" algn="ctr" defTabSz="844550">
            <a:lnSpc>
              <a:spcPct val="90000"/>
            </a:lnSpc>
            <a:spcBef>
              <a:spcPct val="0"/>
            </a:spcBef>
            <a:spcAft>
              <a:spcPct val="35000"/>
            </a:spcAft>
            <a:buNone/>
          </a:pPr>
          <a:r>
            <a:rPr lang="en-US" sz="1900" b="1" kern="1200"/>
            <a:t>- </a:t>
          </a:r>
          <a:r>
            <a:rPr lang="en-US" sz="1900" kern="1200"/>
            <a:t>Pressure Drop </a:t>
          </a:r>
        </a:p>
        <a:p>
          <a:pPr marL="0" lvl="0" indent="0" algn="ctr" defTabSz="844550">
            <a:lnSpc>
              <a:spcPct val="90000"/>
            </a:lnSpc>
            <a:spcBef>
              <a:spcPct val="0"/>
            </a:spcBef>
            <a:spcAft>
              <a:spcPct val="35000"/>
            </a:spcAft>
            <a:buNone/>
          </a:pPr>
          <a:r>
            <a:rPr lang="en-US" sz="1900" b="1" kern="1200"/>
            <a:t>-</a:t>
          </a:r>
          <a:r>
            <a:rPr lang="en-US" sz="1900" kern="1200"/>
            <a:t> Avg. Velocity </a:t>
          </a:r>
        </a:p>
        <a:p>
          <a:pPr marL="0" lvl="0" indent="0" algn="ctr" defTabSz="844550">
            <a:lnSpc>
              <a:spcPct val="90000"/>
            </a:lnSpc>
            <a:spcBef>
              <a:spcPct val="0"/>
            </a:spcBef>
            <a:spcAft>
              <a:spcPct val="35000"/>
            </a:spcAft>
            <a:buNone/>
          </a:pPr>
          <a:r>
            <a:rPr lang="en-US" sz="1900" b="1" kern="1200"/>
            <a:t>-</a:t>
          </a:r>
          <a:r>
            <a:rPr lang="en-US" sz="1900" kern="1200"/>
            <a:t> Surface Area </a:t>
          </a:r>
        </a:p>
        <a:p>
          <a:pPr marL="0" lvl="0" indent="0" algn="ctr" defTabSz="844550">
            <a:lnSpc>
              <a:spcPct val="90000"/>
            </a:lnSpc>
            <a:spcBef>
              <a:spcPct val="0"/>
            </a:spcBef>
            <a:spcAft>
              <a:spcPct val="35000"/>
            </a:spcAft>
            <a:buNone/>
          </a:pPr>
          <a:r>
            <a:rPr lang="en-US" sz="1900" b="1" kern="1200"/>
            <a:t>-</a:t>
          </a:r>
          <a:r>
            <a:rPr lang="en-US" sz="1900" kern="1200"/>
            <a:t> Mass</a:t>
          </a:r>
        </a:p>
      </dsp:txBody>
      <dsp:txXfrm>
        <a:off x="3638696" y="631331"/>
        <a:ext cx="1948298" cy="1948298"/>
      </dsp:txXfrm>
    </dsp:sp>
    <dsp:sp modelId="{6EC44163-DAAB-4E1A-96B8-931142CFCCA9}">
      <dsp:nvSpPr>
        <dsp:cNvPr id="0" name=""/>
        <dsp:cNvSpPr/>
      </dsp:nvSpPr>
      <dsp:spPr>
        <a:xfrm>
          <a:off x="1208118" y="2851112"/>
          <a:ext cx="2159094" cy="21590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Scaling:</a:t>
          </a:r>
        </a:p>
        <a:p>
          <a:pPr marL="0" lvl="0" indent="0" algn="ctr" defTabSz="844550">
            <a:lnSpc>
              <a:spcPct val="90000"/>
            </a:lnSpc>
            <a:spcBef>
              <a:spcPct val="0"/>
            </a:spcBef>
            <a:spcAft>
              <a:spcPct val="35000"/>
            </a:spcAft>
            <a:buNone/>
          </a:pPr>
          <a:r>
            <a:rPr lang="en-US" sz="1900" b="1" kern="1200"/>
            <a:t> </a:t>
          </a:r>
          <a:r>
            <a:rPr lang="en-US" sz="1900" kern="1200" err="1"/>
            <a:t>MinMaxScaler</a:t>
          </a:r>
          <a:r>
            <a:rPr lang="en-US" sz="1900" kern="1200"/>
            <a:t> applied to both inputs and outputs</a:t>
          </a:r>
        </a:p>
      </dsp:txBody>
      <dsp:txXfrm>
        <a:off x="1313516" y="2956510"/>
        <a:ext cx="1948298" cy="1948298"/>
      </dsp:txXfrm>
    </dsp:sp>
    <dsp:sp modelId="{13F4592C-6DBA-4B69-84EC-E1DC8B79E561}">
      <dsp:nvSpPr>
        <dsp:cNvPr id="0" name=""/>
        <dsp:cNvSpPr/>
      </dsp:nvSpPr>
      <dsp:spPr>
        <a:xfrm>
          <a:off x="3533298" y="2851112"/>
          <a:ext cx="2159094" cy="21590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Split: </a:t>
          </a:r>
        </a:p>
        <a:p>
          <a:pPr marL="0" lvl="0" indent="0" algn="ctr" defTabSz="844550">
            <a:lnSpc>
              <a:spcPct val="90000"/>
            </a:lnSpc>
            <a:spcBef>
              <a:spcPct val="0"/>
            </a:spcBef>
            <a:spcAft>
              <a:spcPct val="35000"/>
            </a:spcAft>
            <a:buNone/>
          </a:pPr>
          <a:r>
            <a:rPr lang="en-US" sz="1900" kern="1200"/>
            <a:t>90% training  10% validation</a:t>
          </a:r>
        </a:p>
      </dsp:txBody>
      <dsp:txXfrm>
        <a:off x="3638696" y="2956510"/>
        <a:ext cx="1948298" cy="1948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60E36-1F98-4354-B7CA-277290BEC777}">
      <dsp:nvSpPr>
        <dsp:cNvPr id="0" name=""/>
        <dsp:cNvSpPr/>
      </dsp:nvSpPr>
      <dsp:spPr>
        <a:xfrm>
          <a:off x="0" y="568155"/>
          <a:ext cx="6900512" cy="478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33E26B-3604-4F9F-B689-499849512E61}">
      <dsp:nvSpPr>
        <dsp:cNvPr id="0" name=""/>
        <dsp:cNvSpPr/>
      </dsp:nvSpPr>
      <dsp:spPr>
        <a:xfrm>
          <a:off x="345025" y="287715"/>
          <a:ext cx="4830358"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44550">
            <a:lnSpc>
              <a:spcPct val="90000"/>
            </a:lnSpc>
            <a:spcBef>
              <a:spcPct val="0"/>
            </a:spcBef>
            <a:spcAft>
              <a:spcPct val="35000"/>
            </a:spcAft>
            <a:buNone/>
          </a:pPr>
          <a:r>
            <a:rPr lang="en-US" sz="1900" b="1" kern="1200"/>
            <a:t>Framework: </a:t>
          </a:r>
          <a:r>
            <a:rPr lang="en-US" sz="1900" kern="1200"/>
            <a:t>Tensorflow + Keras Tuner</a:t>
          </a:r>
        </a:p>
      </dsp:txBody>
      <dsp:txXfrm>
        <a:off x="372405" y="315095"/>
        <a:ext cx="4775598" cy="506120"/>
      </dsp:txXfrm>
    </dsp:sp>
    <dsp:sp modelId="{67CA590F-C56D-4447-A2C7-8902FE0C8B7C}">
      <dsp:nvSpPr>
        <dsp:cNvPr id="0" name=""/>
        <dsp:cNvSpPr/>
      </dsp:nvSpPr>
      <dsp:spPr>
        <a:xfrm>
          <a:off x="0" y="1429995"/>
          <a:ext cx="6900512" cy="478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6CAE1D-62FD-4CCE-AF2F-C3245E6478FE}">
      <dsp:nvSpPr>
        <dsp:cNvPr id="0" name=""/>
        <dsp:cNvSpPr/>
      </dsp:nvSpPr>
      <dsp:spPr>
        <a:xfrm>
          <a:off x="345025" y="1149555"/>
          <a:ext cx="4830358"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44550">
            <a:lnSpc>
              <a:spcPct val="90000"/>
            </a:lnSpc>
            <a:spcBef>
              <a:spcPct val="0"/>
            </a:spcBef>
            <a:spcAft>
              <a:spcPct val="35000"/>
            </a:spcAft>
            <a:buNone/>
          </a:pPr>
          <a:r>
            <a:rPr lang="en-US" sz="1900" b="1" kern="1200"/>
            <a:t>Model Type: </a:t>
          </a:r>
          <a:r>
            <a:rPr lang="en-US" sz="1900" kern="1200"/>
            <a:t>Multi-layer Perceptron (MLP)</a:t>
          </a:r>
        </a:p>
      </dsp:txBody>
      <dsp:txXfrm>
        <a:off x="372405" y="1176935"/>
        <a:ext cx="4775598" cy="506120"/>
      </dsp:txXfrm>
    </dsp:sp>
    <dsp:sp modelId="{737D9A7D-113A-4B71-B111-F92EB0D1AC29}">
      <dsp:nvSpPr>
        <dsp:cNvPr id="0" name=""/>
        <dsp:cNvSpPr/>
      </dsp:nvSpPr>
      <dsp:spPr>
        <a:xfrm>
          <a:off x="0" y="2291835"/>
          <a:ext cx="6900512" cy="209475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395732" rIns="535556" bIns="135128" numCol="1" spcCol="1270" anchor="t" anchorCtr="0">
          <a:noAutofit/>
        </a:bodyPr>
        <a:lstStyle/>
        <a:p>
          <a:pPr marL="171450" lvl="1" indent="-171450" algn="l" defTabSz="844550">
            <a:lnSpc>
              <a:spcPct val="90000"/>
            </a:lnSpc>
            <a:spcBef>
              <a:spcPct val="0"/>
            </a:spcBef>
            <a:spcAft>
              <a:spcPct val="15000"/>
            </a:spcAft>
            <a:buChar char="•"/>
          </a:pPr>
          <a:r>
            <a:rPr lang="en-US" sz="1900" b="1" kern="1200"/>
            <a:t>Layers: </a:t>
          </a:r>
          <a:r>
            <a:rPr lang="en-US" sz="1900" kern="1200"/>
            <a:t>2-6</a:t>
          </a:r>
        </a:p>
        <a:p>
          <a:pPr marL="171450" lvl="1" indent="-171450" algn="l" defTabSz="844550">
            <a:lnSpc>
              <a:spcPct val="90000"/>
            </a:lnSpc>
            <a:spcBef>
              <a:spcPct val="0"/>
            </a:spcBef>
            <a:spcAft>
              <a:spcPct val="15000"/>
            </a:spcAft>
            <a:buChar char="•"/>
          </a:pPr>
          <a:r>
            <a:rPr lang="en-US" sz="1900" b="1" kern="1200"/>
            <a:t>Units/layer: </a:t>
          </a:r>
          <a:r>
            <a:rPr lang="en-US" sz="1900" kern="1200"/>
            <a:t>32-1024</a:t>
          </a:r>
        </a:p>
        <a:p>
          <a:pPr marL="171450" lvl="1" indent="-171450" algn="l" defTabSz="844550">
            <a:lnSpc>
              <a:spcPct val="90000"/>
            </a:lnSpc>
            <a:spcBef>
              <a:spcPct val="0"/>
            </a:spcBef>
            <a:spcAft>
              <a:spcPct val="15000"/>
            </a:spcAft>
            <a:buChar char="•"/>
          </a:pPr>
          <a:r>
            <a:rPr lang="en-US" sz="1900" b="1" kern="1200"/>
            <a:t>Activations:</a:t>
          </a:r>
          <a:r>
            <a:rPr lang="en-US" sz="1900" kern="1200"/>
            <a:t> ReLU, Tanh, ELU</a:t>
          </a:r>
        </a:p>
        <a:p>
          <a:pPr marL="171450" lvl="1" indent="-171450" algn="l" defTabSz="844550">
            <a:lnSpc>
              <a:spcPct val="90000"/>
            </a:lnSpc>
            <a:spcBef>
              <a:spcPct val="0"/>
            </a:spcBef>
            <a:spcAft>
              <a:spcPct val="15000"/>
            </a:spcAft>
            <a:buChar char="•"/>
          </a:pPr>
          <a:r>
            <a:rPr lang="en-US" sz="1900" b="1" kern="1200"/>
            <a:t>Dropout:</a:t>
          </a:r>
          <a:r>
            <a:rPr lang="en-US" sz="1900" kern="1200"/>
            <a:t> 0.0–0.5</a:t>
          </a:r>
        </a:p>
        <a:p>
          <a:pPr marL="171450" lvl="1" indent="-171450" algn="l" defTabSz="844550">
            <a:lnSpc>
              <a:spcPct val="90000"/>
            </a:lnSpc>
            <a:spcBef>
              <a:spcPct val="0"/>
            </a:spcBef>
            <a:spcAft>
              <a:spcPct val="15000"/>
            </a:spcAft>
            <a:buChar char="•"/>
          </a:pPr>
          <a:r>
            <a:rPr lang="en-US" sz="1900" b="1" kern="1200"/>
            <a:t>Learning Rate:</a:t>
          </a:r>
          <a:r>
            <a:rPr lang="en-US" sz="1900" kern="1200"/>
            <a:t> 1e-2 to 5e-5</a:t>
          </a:r>
        </a:p>
      </dsp:txBody>
      <dsp:txXfrm>
        <a:off x="0" y="2291835"/>
        <a:ext cx="6900512" cy="2094750"/>
      </dsp:txXfrm>
    </dsp:sp>
    <dsp:sp modelId="{FAF30836-50F4-42FF-992C-A1E9A2AA9AAF}">
      <dsp:nvSpPr>
        <dsp:cNvPr id="0" name=""/>
        <dsp:cNvSpPr/>
      </dsp:nvSpPr>
      <dsp:spPr>
        <a:xfrm>
          <a:off x="345025" y="2011395"/>
          <a:ext cx="4830358"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44550">
            <a:lnSpc>
              <a:spcPct val="90000"/>
            </a:lnSpc>
            <a:spcBef>
              <a:spcPct val="0"/>
            </a:spcBef>
            <a:spcAft>
              <a:spcPct val="35000"/>
            </a:spcAft>
            <a:buNone/>
          </a:pPr>
          <a:r>
            <a:rPr lang="en-US" sz="1900" b="1" kern="1200"/>
            <a:t>Hyperparameter Tuning: </a:t>
          </a:r>
          <a:endParaRPr lang="en-US" sz="1900" kern="1200"/>
        </a:p>
      </dsp:txBody>
      <dsp:txXfrm>
        <a:off x="372405" y="2038775"/>
        <a:ext cx="4775598" cy="506120"/>
      </dsp:txXfrm>
    </dsp:sp>
    <dsp:sp modelId="{BC47B3E5-72E8-46C6-BDA9-C5E5243349DB}">
      <dsp:nvSpPr>
        <dsp:cNvPr id="0" name=""/>
        <dsp:cNvSpPr/>
      </dsp:nvSpPr>
      <dsp:spPr>
        <a:xfrm>
          <a:off x="0" y="4769625"/>
          <a:ext cx="6900512" cy="478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9F4BFF-8B43-431A-90BA-25B83F2F15D2}">
      <dsp:nvSpPr>
        <dsp:cNvPr id="0" name=""/>
        <dsp:cNvSpPr/>
      </dsp:nvSpPr>
      <dsp:spPr>
        <a:xfrm>
          <a:off x="345025" y="4489185"/>
          <a:ext cx="4830358"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44550">
            <a:lnSpc>
              <a:spcPct val="90000"/>
            </a:lnSpc>
            <a:spcBef>
              <a:spcPct val="0"/>
            </a:spcBef>
            <a:spcAft>
              <a:spcPct val="35000"/>
            </a:spcAft>
            <a:buNone/>
          </a:pPr>
          <a:r>
            <a:rPr lang="en-US" sz="1900" b="1" kern="1200"/>
            <a:t>Early Stopping:</a:t>
          </a:r>
          <a:r>
            <a:rPr lang="en-US" sz="1900" kern="1200"/>
            <a:t> Prevent overfitting</a:t>
          </a:r>
        </a:p>
      </dsp:txBody>
      <dsp:txXfrm>
        <a:off x="372405" y="4516565"/>
        <a:ext cx="4775598" cy="5061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2E6D1-09A4-40D6-856D-3BADA81BF2A1}">
      <dsp:nvSpPr>
        <dsp:cNvPr id="0" name=""/>
        <dsp:cNvSpPr/>
      </dsp:nvSpPr>
      <dsp:spPr>
        <a:xfrm>
          <a:off x="-365809" y="8775"/>
          <a:ext cx="6456882" cy="15767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D3D8D-81E9-45C4-8597-59B495CA7CCE}">
      <dsp:nvSpPr>
        <dsp:cNvPr id="0" name=""/>
        <dsp:cNvSpPr/>
      </dsp:nvSpPr>
      <dsp:spPr>
        <a:xfrm>
          <a:off x="111154" y="363541"/>
          <a:ext cx="867207" cy="8672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322DA7-6FD4-4EB1-A20E-663AE7CC58AC}">
      <dsp:nvSpPr>
        <dsp:cNvPr id="0" name=""/>
        <dsp:cNvSpPr/>
      </dsp:nvSpPr>
      <dsp:spPr>
        <a:xfrm>
          <a:off x="1455325" y="8775"/>
          <a:ext cx="4632185" cy="1576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72" tIns="166872" rIns="166872" bIns="166872" numCol="1" spcCol="1270" anchor="ctr" anchorCtr="0">
          <a:noAutofit/>
        </a:bodyPr>
        <a:lstStyle/>
        <a:p>
          <a:pPr marL="0" lvl="0" indent="0" algn="l" defTabSz="1111250">
            <a:lnSpc>
              <a:spcPct val="100000"/>
            </a:lnSpc>
            <a:spcBef>
              <a:spcPct val="0"/>
            </a:spcBef>
            <a:spcAft>
              <a:spcPct val="35000"/>
            </a:spcAft>
            <a:buNone/>
          </a:pPr>
          <a:r>
            <a:rPr lang="en-US" sz="2500" b="1" kern="1200"/>
            <a:t>Goal:</a:t>
          </a:r>
          <a:r>
            <a:rPr lang="en-US" sz="2500" kern="1200"/>
            <a:t> Maximize surface area</a:t>
          </a:r>
        </a:p>
      </dsp:txBody>
      <dsp:txXfrm>
        <a:off x="1455325" y="8775"/>
        <a:ext cx="4632185" cy="1576740"/>
      </dsp:txXfrm>
    </dsp:sp>
    <dsp:sp modelId="{4CE144F1-AE29-441F-A79C-2423B0B65FA8}">
      <dsp:nvSpPr>
        <dsp:cNvPr id="0" name=""/>
        <dsp:cNvSpPr/>
      </dsp:nvSpPr>
      <dsp:spPr>
        <a:xfrm>
          <a:off x="-365809" y="1979700"/>
          <a:ext cx="6456882" cy="15767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B021E4-E31A-43FC-8127-DEF2AC64C84A}">
      <dsp:nvSpPr>
        <dsp:cNvPr id="0" name=""/>
        <dsp:cNvSpPr/>
      </dsp:nvSpPr>
      <dsp:spPr>
        <a:xfrm>
          <a:off x="111154" y="2334466"/>
          <a:ext cx="867207" cy="8672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068905-8A51-4CE0-9A54-51644D433379}">
      <dsp:nvSpPr>
        <dsp:cNvPr id="0" name=""/>
        <dsp:cNvSpPr/>
      </dsp:nvSpPr>
      <dsp:spPr>
        <a:xfrm>
          <a:off x="1455325" y="1979700"/>
          <a:ext cx="2905596" cy="1576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72" tIns="166872" rIns="166872" bIns="166872" numCol="1" spcCol="1270" anchor="ctr" anchorCtr="0">
          <a:noAutofit/>
        </a:bodyPr>
        <a:lstStyle/>
        <a:p>
          <a:pPr marL="0" lvl="0" indent="0" algn="l" defTabSz="1111250">
            <a:lnSpc>
              <a:spcPct val="100000"/>
            </a:lnSpc>
            <a:spcBef>
              <a:spcPct val="0"/>
            </a:spcBef>
            <a:spcAft>
              <a:spcPct val="35000"/>
            </a:spcAft>
            <a:buNone/>
          </a:pPr>
          <a:r>
            <a:rPr lang="en-US" sz="2500" b="1" kern="1200"/>
            <a:t>Prediction Constraints:</a:t>
          </a:r>
          <a:endParaRPr lang="en-US" sz="2500" kern="1200"/>
        </a:p>
      </dsp:txBody>
      <dsp:txXfrm>
        <a:off x="1455325" y="1979700"/>
        <a:ext cx="2905596" cy="1576740"/>
      </dsp:txXfrm>
    </dsp:sp>
    <dsp:sp modelId="{440FF31D-D31B-4D76-828F-771268E945B9}">
      <dsp:nvSpPr>
        <dsp:cNvPr id="0" name=""/>
        <dsp:cNvSpPr/>
      </dsp:nvSpPr>
      <dsp:spPr>
        <a:xfrm>
          <a:off x="3788532" y="1979700"/>
          <a:ext cx="2871368" cy="1576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72" tIns="166872" rIns="166872" bIns="166872" numCol="1" spcCol="1270" anchor="ctr" anchorCtr="0">
          <a:noAutofit/>
        </a:bodyPr>
        <a:lstStyle/>
        <a:p>
          <a:pPr marL="0" lvl="0" indent="0" algn="l" defTabSz="622300" rtl="0">
            <a:lnSpc>
              <a:spcPct val="100000"/>
            </a:lnSpc>
            <a:spcBef>
              <a:spcPct val="0"/>
            </a:spcBef>
            <a:spcAft>
              <a:spcPct val="35000"/>
            </a:spcAft>
            <a:buNone/>
          </a:pPr>
          <a:r>
            <a:rPr lang="en-US" sz="1400" kern="1200"/>
            <a:t>Mass &lt; 125</a:t>
          </a:r>
          <a:r>
            <a:rPr lang="en-US" sz="1400" kern="1200">
              <a:latin typeface="Aptos Display" panose="02110004020202020204"/>
            </a:rPr>
            <a:t> g</a:t>
          </a:r>
          <a:endParaRPr lang="en-US" sz="1400" kern="1200"/>
        </a:p>
        <a:p>
          <a:pPr marL="0" lvl="0" indent="0" algn="l" defTabSz="622300">
            <a:lnSpc>
              <a:spcPct val="100000"/>
            </a:lnSpc>
            <a:spcBef>
              <a:spcPct val="0"/>
            </a:spcBef>
            <a:spcAft>
              <a:spcPct val="35000"/>
            </a:spcAft>
            <a:buNone/>
          </a:pPr>
          <a:r>
            <a:rPr lang="en-US" sz="1400" kern="1200"/>
            <a:t>Pressure Drop &lt; 8000 Pa</a:t>
          </a:r>
        </a:p>
        <a:p>
          <a:pPr marL="0" lvl="0" indent="0" algn="l" defTabSz="622300">
            <a:lnSpc>
              <a:spcPct val="100000"/>
            </a:lnSpc>
            <a:spcBef>
              <a:spcPct val="0"/>
            </a:spcBef>
            <a:spcAft>
              <a:spcPct val="35000"/>
            </a:spcAft>
            <a:buNone/>
          </a:pPr>
          <a:r>
            <a:rPr lang="en-US" sz="1400" kern="1200"/>
            <a:t>Avg. Velocity &gt; 520 mm/s</a:t>
          </a:r>
        </a:p>
      </dsp:txBody>
      <dsp:txXfrm>
        <a:off x="3788532" y="1979700"/>
        <a:ext cx="2871368" cy="1576740"/>
      </dsp:txXfrm>
    </dsp:sp>
    <dsp:sp modelId="{E19B90EF-EAC8-44BD-9EF4-72EB0B4B0973}">
      <dsp:nvSpPr>
        <dsp:cNvPr id="0" name=""/>
        <dsp:cNvSpPr/>
      </dsp:nvSpPr>
      <dsp:spPr>
        <a:xfrm>
          <a:off x="-365809" y="3950625"/>
          <a:ext cx="6456882" cy="15767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FE2BDA-8E26-4797-99F3-81BB0A547EF6}">
      <dsp:nvSpPr>
        <dsp:cNvPr id="0" name=""/>
        <dsp:cNvSpPr/>
      </dsp:nvSpPr>
      <dsp:spPr>
        <a:xfrm>
          <a:off x="111154" y="4305392"/>
          <a:ext cx="867207" cy="8672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4625B1-E947-4388-A08C-0B10D4BD9D8D}">
      <dsp:nvSpPr>
        <dsp:cNvPr id="0" name=""/>
        <dsp:cNvSpPr/>
      </dsp:nvSpPr>
      <dsp:spPr>
        <a:xfrm>
          <a:off x="1455325" y="3950625"/>
          <a:ext cx="2905596" cy="1576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72" tIns="166872" rIns="166872" bIns="166872" numCol="1" spcCol="1270" anchor="ctr" anchorCtr="0">
          <a:noAutofit/>
        </a:bodyPr>
        <a:lstStyle/>
        <a:p>
          <a:pPr marL="0" lvl="0" indent="0" algn="l" defTabSz="1111250">
            <a:lnSpc>
              <a:spcPct val="100000"/>
            </a:lnSpc>
            <a:spcBef>
              <a:spcPct val="0"/>
            </a:spcBef>
            <a:spcAft>
              <a:spcPct val="35000"/>
            </a:spcAft>
            <a:buNone/>
          </a:pPr>
          <a:r>
            <a:rPr lang="en-US" sz="2500" b="1" kern="1200"/>
            <a:t>Methods:</a:t>
          </a:r>
          <a:endParaRPr lang="en-US" sz="2500" kern="1200"/>
        </a:p>
      </dsp:txBody>
      <dsp:txXfrm>
        <a:off x="1455325" y="3950625"/>
        <a:ext cx="2905596" cy="1576740"/>
      </dsp:txXfrm>
    </dsp:sp>
    <dsp:sp modelId="{319E0181-5432-457E-869E-C3663A9789EA}">
      <dsp:nvSpPr>
        <dsp:cNvPr id="0" name=""/>
        <dsp:cNvSpPr/>
      </dsp:nvSpPr>
      <dsp:spPr>
        <a:xfrm>
          <a:off x="3625740" y="3950625"/>
          <a:ext cx="3196950" cy="1576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72" tIns="166872" rIns="166872" bIns="166872" numCol="1" spcCol="1270" anchor="ctr" anchorCtr="0">
          <a:noAutofit/>
        </a:bodyPr>
        <a:lstStyle/>
        <a:p>
          <a:pPr marL="0" lvl="0" indent="0" algn="l" defTabSz="622300">
            <a:lnSpc>
              <a:spcPct val="100000"/>
            </a:lnSpc>
            <a:spcBef>
              <a:spcPct val="0"/>
            </a:spcBef>
            <a:spcAft>
              <a:spcPct val="35000"/>
            </a:spcAft>
            <a:buNone/>
          </a:pPr>
          <a:r>
            <a:rPr lang="en-US" sz="1400" kern="1200"/>
            <a:t>Random sampling </a:t>
          </a:r>
        </a:p>
        <a:p>
          <a:pPr marL="0" lvl="0" indent="0" algn="l" defTabSz="622300">
            <a:lnSpc>
              <a:spcPct val="100000"/>
            </a:lnSpc>
            <a:spcBef>
              <a:spcPct val="0"/>
            </a:spcBef>
            <a:spcAft>
              <a:spcPct val="35000"/>
            </a:spcAft>
            <a:buNone/>
          </a:pPr>
          <a:r>
            <a:rPr lang="en-US" sz="1400" kern="1200"/>
            <a:t>Multi-start optimization</a:t>
          </a:r>
        </a:p>
        <a:p>
          <a:pPr marL="0" lvl="0" indent="0" algn="l" defTabSz="622300" rtl="0">
            <a:lnSpc>
              <a:spcPct val="100000"/>
            </a:lnSpc>
            <a:spcBef>
              <a:spcPct val="0"/>
            </a:spcBef>
            <a:spcAft>
              <a:spcPct val="35000"/>
            </a:spcAft>
            <a:buNone/>
          </a:pPr>
          <a:r>
            <a:rPr lang="en-US" sz="1400" kern="1200"/>
            <a:t>Validation with </a:t>
          </a:r>
          <a:r>
            <a:rPr lang="en-US" sz="1400" kern="1200" err="1"/>
            <a:t>nTop</a:t>
          </a:r>
          <a:endParaRPr lang="en-US" sz="1400" kern="1200"/>
        </a:p>
      </dsp:txBody>
      <dsp:txXfrm>
        <a:off x="3625740" y="3950625"/>
        <a:ext cx="3196950" cy="15767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A6B09-761D-448E-868A-83FA39D1D77E}">
      <dsp:nvSpPr>
        <dsp:cNvPr id="0" name=""/>
        <dsp:cNvSpPr/>
      </dsp:nvSpPr>
      <dsp:spPr>
        <a:xfrm>
          <a:off x="0" y="895997"/>
          <a:ext cx="6364224" cy="165414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84667-B3F4-4AE0-A84F-13999F12DE3C}">
      <dsp:nvSpPr>
        <dsp:cNvPr id="0" name=""/>
        <dsp:cNvSpPr/>
      </dsp:nvSpPr>
      <dsp:spPr>
        <a:xfrm>
          <a:off x="500380" y="1268181"/>
          <a:ext cx="909782" cy="9097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E0ED09-EA76-4A0D-AA88-A338EE27BD86}">
      <dsp:nvSpPr>
        <dsp:cNvPr id="0" name=""/>
        <dsp:cNvSpPr/>
      </dsp:nvSpPr>
      <dsp:spPr>
        <a:xfrm>
          <a:off x="1910542" y="895997"/>
          <a:ext cx="4453681" cy="165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064" tIns="175064" rIns="175064" bIns="175064" numCol="1" spcCol="1270" anchor="ctr" anchorCtr="0">
          <a:noAutofit/>
        </a:bodyPr>
        <a:lstStyle/>
        <a:p>
          <a:pPr marL="0" lvl="0" indent="0" algn="l" defTabSz="1111250">
            <a:lnSpc>
              <a:spcPct val="100000"/>
            </a:lnSpc>
            <a:spcBef>
              <a:spcPct val="0"/>
            </a:spcBef>
            <a:spcAft>
              <a:spcPct val="35000"/>
            </a:spcAft>
            <a:buNone/>
          </a:pPr>
          <a:r>
            <a:rPr lang="en-US" sz="2500" kern="1200"/>
            <a:t>Used SLSQP optimizer with nonlinear constraints</a:t>
          </a:r>
        </a:p>
      </dsp:txBody>
      <dsp:txXfrm>
        <a:off x="1910542" y="895997"/>
        <a:ext cx="4453681" cy="1654149"/>
      </dsp:txXfrm>
    </dsp:sp>
    <dsp:sp modelId="{DADBA373-B3A7-4ED0-8D73-6F9E47233A2C}">
      <dsp:nvSpPr>
        <dsp:cNvPr id="0" name=""/>
        <dsp:cNvSpPr/>
      </dsp:nvSpPr>
      <dsp:spPr>
        <a:xfrm>
          <a:off x="0" y="2963684"/>
          <a:ext cx="6364224" cy="165414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C2F50-1700-4D0B-BF66-E1B274C342F5}">
      <dsp:nvSpPr>
        <dsp:cNvPr id="0" name=""/>
        <dsp:cNvSpPr/>
      </dsp:nvSpPr>
      <dsp:spPr>
        <a:xfrm>
          <a:off x="500380" y="3335868"/>
          <a:ext cx="909782" cy="90978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A32777-BD78-486C-AEB4-4839536CBA4B}">
      <dsp:nvSpPr>
        <dsp:cNvPr id="0" name=""/>
        <dsp:cNvSpPr/>
      </dsp:nvSpPr>
      <dsp:spPr>
        <a:xfrm>
          <a:off x="1910542" y="2963684"/>
          <a:ext cx="2863900" cy="165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064" tIns="175064" rIns="175064" bIns="175064" numCol="1" spcCol="1270" anchor="ctr" anchorCtr="0">
          <a:noAutofit/>
        </a:bodyPr>
        <a:lstStyle/>
        <a:p>
          <a:pPr marL="0" lvl="0" indent="0" algn="l" defTabSz="1111250">
            <a:lnSpc>
              <a:spcPct val="100000"/>
            </a:lnSpc>
            <a:spcBef>
              <a:spcPct val="0"/>
            </a:spcBef>
            <a:spcAft>
              <a:spcPct val="35000"/>
            </a:spcAft>
            <a:buNone/>
          </a:pPr>
          <a:r>
            <a:rPr lang="en-US" sz="2500" kern="1200"/>
            <a:t>Ran 50 trials from different starting points </a:t>
          </a:r>
        </a:p>
      </dsp:txBody>
      <dsp:txXfrm>
        <a:off x="1910542" y="2963684"/>
        <a:ext cx="2863900" cy="1654149"/>
      </dsp:txXfrm>
    </dsp:sp>
    <dsp:sp modelId="{083FB864-309D-459A-8B25-D96AA1BD83A0}">
      <dsp:nvSpPr>
        <dsp:cNvPr id="0" name=""/>
        <dsp:cNvSpPr/>
      </dsp:nvSpPr>
      <dsp:spPr>
        <a:xfrm>
          <a:off x="4774443" y="2963684"/>
          <a:ext cx="1589780" cy="165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064" tIns="175064" rIns="175064" bIns="175064" numCol="1" spcCol="1270" anchor="ctr" anchorCtr="0">
          <a:noAutofit/>
        </a:bodyPr>
        <a:lstStyle/>
        <a:p>
          <a:pPr marL="0" lvl="0" indent="0" algn="l" defTabSz="622300">
            <a:lnSpc>
              <a:spcPct val="100000"/>
            </a:lnSpc>
            <a:spcBef>
              <a:spcPct val="0"/>
            </a:spcBef>
            <a:spcAft>
              <a:spcPct val="35000"/>
            </a:spcAft>
            <a:buNone/>
          </a:pPr>
          <a:r>
            <a:rPr lang="en-US" sz="1400" kern="1200"/>
            <a:t>centered around best random sample</a:t>
          </a:r>
        </a:p>
        <a:p>
          <a:pPr marL="0" lvl="0" indent="0" algn="l" defTabSz="622300">
            <a:lnSpc>
              <a:spcPct val="100000"/>
            </a:lnSpc>
            <a:spcBef>
              <a:spcPct val="0"/>
            </a:spcBef>
            <a:spcAft>
              <a:spcPct val="35000"/>
            </a:spcAft>
            <a:buNone/>
          </a:pPr>
          <a:r>
            <a:rPr lang="en-US" sz="1400" kern="1200"/>
            <a:t>within 10% of variable range</a:t>
          </a:r>
        </a:p>
      </dsp:txBody>
      <dsp:txXfrm>
        <a:off x="4774443" y="2963684"/>
        <a:ext cx="1589780" cy="16541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2A061E-BA8A-15F9-0F07-404012CC92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D4A32E-F697-57FF-5069-3223A28122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247B6C-EB08-4383-AD92-813437129F29}" type="datetimeFigureOut">
              <a:rPr lang="en-US" smtClean="0"/>
              <a:t>8/17/2025</a:t>
            </a:fld>
            <a:endParaRPr lang="en-US"/>
          </a:p>
        </p:txBody>
      </p:sp>
      <p:sp>
        <p:nvSpPr>
          <p:cNvPr id="4" name="Footer Placeholder 3">
            <a:extLst>
              <a:ext uri="{FF2B5EF4-FFF2-40B4-BE49-F238E27FC236}">
                <a16:creationId xmlns:a16="http://schemas.microsoft.com/office/drawing/2014/main" id="{B0F6A498-AD7D-68B6-E4FB-DF9A955A6B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36482A3-3126-871F-BDAC-7D5E06FDF1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A22F1E-6EF6-4EBB-961D-44EBC52AC352}" type="slidenum">
              <a:rPr lang="en-US" smtClean="0"/>
              <a:t>‹#›</a:t>
            </a:fld>
            <a:endParaRPr lang="en-US"/>
          </a:p>
        </p:txBody>
      </p:sp>
    </p:spTree>
    <p:extLst>
      <p:ext uri="{BB962C8B-B14F-4D97-AF65-F5344CB8AC3E}">
        <p14:creationId xmlns:p14="http://schemas.microsoft.com/office/powerpoint/2010/main" val="2881603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E25290-9B84-4653-B3A6-D07923512007}" type="datetimeFigureOut">
              <a:rPr lang="en-US" smtClean="0"/>
              <a:t>8/17/2025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6B2DAA-3BE1-4BD8-A2AB-8BDC97B0F379}" type="slidenum">
              <a:rPr lang="en-US" smtClean="0"/>
              <a:t>‹#›</a:t>
            </a:fld>
            <a:endParaRPr lang="en-US"/>
          </a:p>
        </p:txBody>
      </p:sp>
    </p:spTree>
    <p:extLst>
      <p:ext uri="{BB962C8B-B14F-4D97-AF65-F5344CB8AC3E}">
        <p14:creationId xmlns:p14="http://schemas.microsoft.com/office/powerpoint/2010/main" val="3687248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endParaRPr lang="en-US"/>
          </a:p>
          <a:p>
            <a:r>
              <a:rPr lang="en-US"/>
              <a:t>To start off our presentation, we'd like to briefly introduce ourselves. We're graduate research assistants in the cryogenics department at the Facility for Rare Isotope Beams, or FRIB.</a:t>
            </a:r>
          </a:p>
          <a:p>
            <a:endParaRPr lang="en-US"/>
          </a:p>
          <a:p>
            <a:r>
              <a:rPr lang="en-US"/>
              <a:t>FRIB is a DOE-funded accelerator facility located on the campus of Michigan State University.</a:t>
            </a:r>
          </a:p>
        </p:txBody>
      </p:sp>
      <p:sp>
        <p:nvSpPr>
          <p:cNvPr id="4" name="Slide Number Placeholder 3"/>
          <p:cNvSpPr>
            <a:spLocks noGrp="1"/>
          </p:cNvSpPr>
          <p:nvPr>
            <p:ph type="sldNum" sz="quarter" idx="5"/>
          </p:nvPr>
        </p:nvSpPr>
        <p:spPr/>
        <p:txBody>
          <a:bodyPr/>
          <a:lstStyle/>
          <a:p>
            <a:fld id="{D66B2DAA-3BE1-4BD8-A2AB-8BDC97B0F379}" type="slidenum">
              <a:rPr lang="en-US" smtClean="0"/>
              <a:t>2</a:t>
            </a:fld>
            <a:endParaRPr lang="en-US"/>
          </a:p>
        </p:txBody>
      </p:sp>
    </p:spTree>
    <p:extLst>
      <p:ext uri="{BB962C8B-B14F-4D97-AF65-F5344CB8AC3E}">
        <p14:creationId xmlns:p14="http://schemas.microsoft.com/office/powerpoint/2010/main" val="1509139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r>
              <a:rPr lang="en-US"/>
              <a:t>My bachelor’s degree was in mechanical engineering with a concentration in computational design. </a:t>
            </a:r>
          </a:p>
          <a:p>
            <a:endParaRPr lang="en-US"/>
          </a:p>
          <a:p>
            <a:r>
              <a:rPr lang="en-US"/>
              <a:t>My master’s degree is also in mechanical engineering with a focus in large-scale cryogenic systems. </a:t>
            </a:r>
          </a:p>
          <a:p>
            <a:endParaRPr lang="en-US"/>
          </a:p>
          <a:p>
            <a:r>
              <a:rPr lang="en-US"/>
              <a:t>My current research is in cryogenic helium purification. Specifically, my thesis seeks to model frost deposition within fin-tube heat exchangers and how that affects system performance.</a:t>
            </a:r>
          </a:p>
        </p:txBody>
      </p:sp>
      <p:sp>
        <p:nvSpPr>
          <p:cNvPr id="4" name="Slide Number Placeholder 3"/>
          <p:cNvSpPr>
            <a:spLocks noGrp="1"/>
          </p:cNvSpPr>
          <p:nvPr>
            <p:ph type="sldNum" sz="quarter" idx="5"/>
          </p:nvPr>
        </p:nvSpPr>
        <p:spPr/>
        <p:txBody>
          <a:bodyPr/>
          <a:lstStyle/>
          <a:p>
            <a:fld id="{D66B2DAA-3BE1-4BD8-A2AB-8BDC97B0F379}" type="slidenum">
              <a:rPr lang="en-US" smtClean="0"/>
              <a:t>3</a:t>
            </a:fld>
            <a:endParaRPr lang="en-US"/>
          </a:p>
        </p:txBody>
      </p:sp>
    </p:spTree>
    <p:extLst>
      <p:ext uri="{BB962C8B-B14F-4D97-AF65-F5344CB8AC3E}">
        <p14:creationId xmlns:p14="http://schemas.microsoft.com/office/powerpoint/2010/main" val="3394774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endParaRPr lang="en-US"/>
          </a:p>
          <a:p>
            <a:r>
              <a:rPr lang="en-US"/>
              <a:t>My name is Nico Quirante and I earned my bachelor’s degree in mechanical engineering with a concentration in cryogenics. </a:t>
            </a:r>
          </a:p>
          <a:p>
            <a:endParaRPr lang="en-US"/>
          </a:p>
          <a:p>
            <a:r>
              <a:rPr lang="en-US"/>
              <a:t>I am currently starting my first year of my PhD in mechanical engineering.</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D66B2DAA-3BE1-4BD8-A2AB-8BDC97B0F379}" type="slidenum">
              <a:rPr lang="en-US" smtClean="0"/>
              <a:t>4</a:t>
            </a:fld>
            <a:endParaRPr lang="en-US"/>
          </a:p>
        </p:txBody>
      </p:sp>
    </p:spTree>
    <p:extLst>
      <p:ext uri="{BB962C8B-B14F-4D97-AF65-F5344CB8AC3E}">
        <p14:creationId xmlns:p14="http://schemas.microsoft.com/office/powerpoint/2010/main" val="1924771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r>
              <a:rPr lang="en-US"/>
              <a:t>The challenge we chose to solve was training a machine learning model to predict heat exchanger performance metrics like pressure drop, average velocity, surface area, and mass from design parameters like cell size and inlet velocity. </a:t>
            </a:r>
          </a:p>
          <a:p>
            <a:endParaRPr lang="en-US"/>
          </a:p>
          <a:p>
            <a:r>
              <a:rPr lang="en-US"/>
              <a:t>From this trained model, we are tasked with using inverse design to optimize the input parameters for maximum surface area within the given constraints. </a:t>
            </a:r>
          </a:p>
        </p:txBody>
      </p:sp>
      <p:sp>
        <p:nvSpPr>
          <p:cNvPr id="4" name="Slide Number Placeholder 3"/>
          <p:cNvSpPr>
            <a:spLocks noGrp="1"/>
          </p:cNvSpPr>
          <p:nvPr>
            <p:ph type="sldNum" sz="quarter" idx="5"/>
          </p:nvPr>
        </p:nvSpPr>
        <p:spPr/>
        <p:txBody>
          <a:bodyPr/>
          <a:lstStyle/>
          <a:p>
            <a:fld id="{D66B2DAA-3BE1-4BD8-A2AB-8BDC97B0F379}" type="slidenum">
              <a:rPr lang="en-US" smtClean="0"/>
              <a:t>5</a:t>
            </a:fld>
            <a:endParaRPr lang="en-US"/>
          </a:p>
        </p:txBody>
      </p:sp>
    </p:spTree>
    <p:extLst>
      <p:ext uri="{BB962C8B-B14F-4D97-AF65-F5344CB8AC3E}">
        <p14:creationId xmlns:p14="http://schemas.microsoft.com/office/powerpoint/2010/main" val="246305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r>
              <a:rPr lang="en-US"/>
              <a:t>So why is this important? </a:t>
            </a:r>
          </a:p>
          <a:p>
            <a:endParaRPr lang="en-US"/>
          </a:p>
          <a:p>
            <a:r>
              <a:rPr lang="en-US"/>
              <a:t>Inference with a surrogate model is much less costly than full simulations, especially as a design is developing. FEA and CFD simulations can take a large amount of time, computational power, and energy as the resolution increases. </a:t>
            </a:r>
          </a:p>
          <a:p>
            <a:endParaRPr lang="en-US"/>
          </a:p>
          <a:p>
            <a:r>
              <a:rPr lang="en-US"/>
              <a:t>Within our own work at FRIB, we’ve seen these bottlenecks in action. As we go through the concept phase, there is input required from many parties, including the physics and accelerator group, controls, infrastructure, and other engineers. If a full simulation was required each time something changed in the concept, nothing would ever get made. Within our department, we have created our own processes to reduce that bottleneck, but a physics-informed surrogate model could be a middle ground to inform our decisions without as much computational overhead. </a:t>
            </a:r>
          </a:p>
        </p:txBody>
      </p:sp>
      <p:sp>
        <p:nvSpPr>
          <p:cNvPr id="4" name="Slide Number Placeholder 3"/>
          <p:cNvSpPr>
            <a:spLocks noGrp="1"/>
          </p:cNvSpPr>
          <p:nvPr>
            <p:ph type="sldNum" sz="quarter" idx="5"/>
          </p:nvPr>
        </p:nvSpPr>
        <p:spPr/>
        <p:txBody>
          <a:bodyPr/>
          <a:lstStyle/>
          <a:p>
            <a:fld id="{D66B2DAA-3BE1-4BD8-A2AB-8BDC97B0F379}" type="slidenum">
              <a:rPr lang="en-US" smtClean="0"/>
              <a:t>6</a:t>
            </a:fld>
            <a:endParaRPr lang="en-US"/>
          </a:p>
        </p:txBody>
      </p:sp>
    </p:spTree>
    <p:extLst>
      <p:ext uri="{BB962C8B-B14F-4D97-AF65-F5344CB8AC3E}">
        <p14:creationId xmlns:p14="http://schemas.microsoft.com/office/powerpoint/2010/main" val="1849607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r>
              <a:rPr lang="en-US"/>
              <a:t>To begin, we were provided with an initial dataset. </a:t>
            </a:r>
          </a:p>
          <a:p>
            <a:r>
              <a:rPr lang="en-US"/>
              <a:t>After receiving poor results training on this initial dataset and after the scoring parameters were updated to no longer factor in time to run, we decided it would be beneficial to generate more data. </a:t>
            </a:r>
          </a:p>
          <a:p>
            <a:endParaRPr lang="en-US"/>
          </a:p>
          <a:p>
            <a:r>
              <a:rPr lang="en-US"/>
              <a:t>Using a modified version of the provided python script, we generated 1000 data points across the input ranges. </a:t>
            </a:r>
          </a:p>
          <a:p>
            <a:r>
              <a:rPr lang="en-US"/>
              <a:t>This was a significant time investment, but we felt it was worth the risk for the expected increase in model accuracy. </a:t>
            </a:r>
          </a:p>
          <a:p>
            <a:r>
              <a:rPr lang="en-US"/>
              <a:t>The data generation took a little more than 24 hours, but it paid dividends as we moved into the training phase.</a:t>
            </a:r>
          </a:p>
        </p:txBody>
      </p:sp>
      <p:sp>
        <p:nvSpPr>
          <p:cNvPr id="4" name="Slide Number Placeholder 3"/>
          <p:cNvSpPr>
            <a:spLocks noGrp="1"/>
          </p:cNvSpPr>
          <p:nvPr>
            <p:ph type="sldNum" sz="quarter" idx="5"/>
          </p:nvPr>
        </p:nvSpPr>
        <p:spPr/>
        <p:txBody>
          <a:bodyPr/>
          <a:lstStyle/>
          <a:p>
            <a:fld id="{D66B2DAA-3BE1-4BD8-A2AB-8BDC97B0F379}" type="slidenum">
              <a:rPr lang="en-US" smtClean="0"/>
              <a:t>7</a:t>
            </a:fld>
            <a:endParaRPr lang="en-US"/>
          </a:p>
        </p:txBody>
      </p:sp>
    </p:spTree>
    <p:extLst>
      <p:ext uri="{BB962C8B-B14F-4D97-AF65-F5344CB8AC3E}">
        <p14:creationId xmlns:p14="http://schemas.microsoft.com/office/powerpoint/2010/main" val="2875328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endParaRPr lang="en-US"/>
          </a:p>
          <a:p>
            <a:r>
              <a:rPr lang="en-US"/>
              <a:t>Before training our model, we first prepared our dataset.</a:t>
            </a:r>
          </a:p>
          <a:p>
            <a:endParaRPr lang="en-US">
              <a:highlight>
                <a:srgbClr val="FFFF00"/>
              </a:highlight>
            </a:endParaRPr>
          </a:p>
          <a:p>
            <a:r>
              <a:rPr lang="en-US"/>
              <a:t>We started by defining our input features, including X cell size, Y/Z cell size, and inlet velocity, and our output targets, including pressure drop, average velocity, surface area, and mass.</a:t>
            </a:r>
          </a:p>
          <a:p>
            <a:endParaRPr lang="en-US"/>
          </a:p>
          <a:p>
            <a:r>
              <a:rPr lang="en-US"/>
              <a:t>To normalize the data, we tested both </a:t>
            </a:r>
            <a:r>
              <a:rPr lang="en-US" err="1"/>
              <a:t>MinMaxScaler</a:t>
            </a:r>
            <a:r>
              <a:rPr lang="en-US"/>
              <a:t> and </a:t>
            </a:r>
            <a:r>
              <a:rPr lang="en-US" err="1"/>
              <a:t>StandardScaler</a:t>
            </a:r>
            <a:r>
              <a:rPr lang="en-US"/>
              <a:t>. In this situation, </a:t>
            </a:r>
            <a:r>
              <a:rPr lang="en-US" err="1"/>
              <a:t>MinMaxScaler</a:t>
            </a:r>
            <a:r>
              <a:rPr lang="en-US"/>
              <a:t> gave us better loss during training, likely due to the fact that it preserves feature relationships within a bounded range. </a:t>
            </a:r>
          </a:p>
          <a:p>
            <a:endParaRPr lang="en-US"/>
          </a:p>
          <a:p>
            <a:r>
              <a:rPr lang="en-US"/>
              <a:t>We then randomly split the dataset into 90% training and 10% validation, giving the surrogate model a reliable foundation to generalize from. </a:t>
            </a:r>
          </a:p>
        </p:txBody>
      </p:sp>
      <p:sp>
        <p:nvSpPr>
          <p:cNvPr id="4" name="Slide Number Placeholder 3"/>
          <p:cNvSpPr>
            <a:spLocks noGrp="1"/>
          </p:cNvSpPr>
          <p:nvPr>
            <p:ph type="sldNum" sz="quarter" idx="5"/>
          </p:nvPr>
        </p:nvSpPr>
        <p:spPr/>
        <p:txBody>
          <a:bodyPr/>
          <a:lstStyle/>
          <a:p>
            <a:fld id="{D66B2DAA-3BE1-4BD8-A2AB-8BDC97B0F379}" type="slidenum">
              <a:rPr lang="en-US" smtClean="0"/>
              <a:t>8</a:t>
            </a:fld>
            <a:endParaRPr lang="en-US"/>
          </a:p>
        </p:txBody>
      </p:sp>
    </p:spTree>
    <p:extLst>
      <p:ext uri="{BB962C8B-B14F-4D97-AF65-F5344CB8AC3E}">
        <p14:creationId xmlns:p14="http://schemas.microsoft.com/office/powerpoint/2010/main" val="1804771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r>
              <a:rPr lang="en-US"/>
              <a:t>For our model architecture, we chose a Multi-Layer Perceptron model. We understood the basics of this model relatively well and it is well-implemented within several existing python libraries, like </a:t>
            </a:r>
            <a:r>
              <a:rPr lang="en-US" err="1"/>
              <a:t>Tensorflow</a:t>
            </a:r>
            <a:r>
              <a:rPr lang="en-US"/>
              <a:t> and </a:t>
            </a:r>
            <a:r>
              <a:rPr lang="en-US" err="1"/>
              <a:t>Keras</a:t>
            </a:r>
            <a:r>
              <a:rPr lang="en-US"/>
              <a:t>. </a:t>
            </a:r>
          </a:p>
          <a:p>
            <a:endParaRPr lang="en-US"/>
          </a:p>
          <a:p>
            <a:r>
              <a:rPr lang="en-US"/>
              <a:t>In our early training, we found that the hyperparameter tuning gave better results than our own trial-and-error but didn’t improve the quality of the predictions as much as we expected. To enhance the tuning, we increased the number and range of parameters to search. Specifically, we increased the ranges for number and density of the layers, as well as adding several activation function options. This significantly decreased the validation loss and our predictions improved considerably.</a:t>
            </a:r>
          </a:p>
          <a:p>
            <a:endParaRPr lang="en-US"/>
          </a:p>
          <a:p>
            <a:r>
              <a:rPr lang="en-US"/>
              <a:t>Due to our relatively limited dataset, overfitting was a big concern for us. To prevent this, the tuning was configured with an “early stopping” callback, which is well-described by the name. It stops training early after reaching a target value for the validation loss. </a:t>
            </a:r>
          </a:p>
        </p:txBody>
      </p:sp>
      <p:sp>
        <p:nvSpPr>
          <p:cNvPr id="4" name="Slide Number Placeholder 3"/>
          <p:cNvSpPr>
            <a:spLocks noGrp="1"/>
          </p:cNvSpPr>
          <p:nvPr>
            <p:ph type="sldNum" sz="quarter" idx="5"/>
          </p:nvPr>
        </p:nvSpPr>
        <p:spPr/>
        <p:txBody>
          <a:bodyPr/>
          <a:lstStyle/>
          <a:p>
            <a:fld id="{D66B2DAA-3BE1-4BD8-A2AB-8BDC97B0F379}" type="slidenum">
              <a:rPr lang="en-US" smtClean="0"/>
              <a:t>9</a:t>
            </a:fld>
            <a:endParaRPr lang="en-US"/>
          </a:p>
        </p:txBody>
      </p:sp>
    </p:spTree>
    <p:extLst>
      <p:ext uri="{BB962C8B-B14F-4D97-AF65-F5344CB8AC3E}">
        <p14:creationId xmlns:p14="http://schemas.microsoft.com/office/powerpoint/2010/main" val="2328350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endParaRPr lang="en-US"/>
          </a:p>
          <a:p>
            <a:r>
              <a:rPr lang="en-US"/>
              <a:t>Moving on to the inverse design methodology.</a:t>
            </a:r>
          </a:p>
          <a:p>
            <a:endParaRPr lang="en-US"/>
          </a:p>
          <a:p>
            <a:r>
              <a:rPr lang="en-US"/>
              <a:t>To identify the optimal combination of the X cell size, Y/Z cell size and inlet velocity, we used a three-step inverse design strategy aimed at maximizing surface area while satisfying three constraints: the mass staying under 125 grams, pressure drop below 8000 pascals, and the average velocity above 520 millimeters per second. </a:t>
            </a:r>
          </a:p>
          <a:p>
            <a:endParaRPr lang="en-US"/>
          </a:p>
          <a:p>
            <a:r>
              <a:rPr lang="en-US"/>
              <a:t>We approached this using Random Sampling, Multi-Start Gradient Optimization, and then Validation with an </a:t>
            </a:r>
            <a:r>
              <a:rPr lang="en-US" err="1"/>
              <a:t>nTop</a:t>
            </a:r>
            <a:r>
              <a:rPr lang="en-US"/>
              <a:t> simulation.</a:t>
            </a:r>
          </a:p>
        </p:txBody>
      </p:sp>
      <p:sp>
        <p:nvSpPr>
          <p:cNvPr id="4" name="Slide Number Placeholder 3"/>
          <p:cNvSpPr>
            <a:spLocks noGrp="1"/>
          </p:cNvSpPr>
          <p:nvPr>
            <p:ph type="sldNum" sz="quarter" idx="5"/>
          </p:nvPr>
        </p:nvSpPr>
        <p:spPr/>
        <p:txBody>
          <a:bodyPr/>
          <a:lstStyle/>
          <a:p>
            <a:fld id="{D66B2DAA-3BE1-4BD8-A2AB-8BDC97B0F379}" type="slidenum">
              <a:rPr lang="en-US" smtClean="0"/>
              <a:t>10</a:t>
            </a:fld>
            <a:endParaRPr lang="en-US"/>
          </a:p>
        </p:txBody>
      </p:sp>
    </p:spTree>
    <p:extLst>
      <p:ext uri="{BB962C8B-B14F-4D97-AF65-F5344CB8AC3E}">
        <p14:creationId xmlns:p14="http://schemas.microsoft.com/office/powerpoint/2010/main" val="2320119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Jack</a:t>
            </a:r>
          </a:p>
          <a:p>
            <a:r>
              <a:rPr lang="en-US">
                <a:latin typeface="Calibri"/>
                <a:ea typeface="Calibri"/>
                <a:cs typeface="Calibri"/>
              </a:rPr>
              <a:t>To begin our inverse design, we performed large-scale random sampling. </a:t>
            </a:r>
          </a:p>
          <a:p>
            <a:r>
              <a:rPr lang="en-US">
                <a:latin typeface="Calibri"/>
                <a:ea typeface="Calibri"/>
                <a:cs typeface="Calibri"/>
              </a:rPr>
              <a:t>Using the trained model, we predicted the surface area, mass, pressure drop, and average velocity for a million points within the design space. </a:t>
            </a:r>
          </a:p>
          <a:p>
            <a:endParaRPr lang="en-US">
              <a:latin typeface="Calibri"/>
              <a:ea typeface="Calibri"/>
              <a:cs typeface="Calibri"/>
            </a:endParaRPr>
          </a:p>
          <a:p>
            <a:r>
              <a:rPr lang="en-US">
                <a:latin typeface="Calibri"/>
                <a:ea typeface="Calibri"/>
                <a:cs typeface="Calibri"/>
              </a:rPr>
              <a:t>In figure 1, you can see the colored points that fit the constraints. Add number</a:t>
            </a:r>
          </a:p>
          <a:p>
            <a:r>
              <a:rPr lang="en-US">
                <a:latin typeface="Calibri"/>
                <a:ea typeface="Calibri"/>
                <a:cs typeface="Calibri"/>
              </a:rPr>
              <a:t>These valid points form a rough triangular prism (read the room: “if you squint your eyes a bit”)</a:t>
            </a:r>
          </a:p>
          <a:p>
            <a:r>
              <a:rPr lang="en-US">
                <a:latin typeface="Calibri"/>
                <a:ea typeface="Calibri"/>
                <a:cs typeface="Calibri"/>
              </a:rPr>
              <a:t>The point shown with a red star is the design point with the highest surface area found during this random sampling. </a:t>
            </a:r>
          </a:p>
        </p:txBody>
      </p:sp>
      <p:sp>
        <p:nvSpPr>
          <p:cNvPr id="4" name="Slide Number Placeholder 3"/>
          <p:cNvSpPr>
            <a:spLocks noGrp="1"/>
          </p:cNvSpPr>
          <p:nvPr>
            <p:ph type="sldNum" sz="quarter" idx="5"/>
          </p:nvPr>
        </p:nvSpPr>
        <p:spPr/>
        <p:txBody>
          <a:bodyPr/>
          <a:lstStyle/>
          <a:p>
            <a:fld id="{D66B2DAA-3BE1-4BD8-A2AB-8BDC97B0F379}" type="slidenum">
              <a:rPr lang="en-US" smtClean="0"/>
              <a:t>11</a:t>
            </a:fld>
            <a:endParaRPr lang="en-US"/>
          </a:p>
        </p:txBody>
      </p:sp>
    </p:spTree>
    <p:extLst>
      <p:ext uri="{BB962C8B-B14F-4D97-AF65-F5344CB8AC3E}">
        <p14:creationId xmlns:p14="http://schemas.microsoft.com/office/powerpoint/2010/main" val="3097938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endParaRPr lang="en-US"/>
          </a:p>
          <a:p>
            <a:r>
              <a:rPr lang="en-US"/>
              <a:t>After finding the best performing design from our initial random sampling, we improved it using a multi-start gradient optimization.</a:t>
            </a:r>
          </a:p>
          <a:p>
            <a:endParaRPr lang="en-US"/>
          </a:p>
          <a:p>
            <a:r>
              <a:rPr lang="en-US"/>
              <a:t>For this, we chose the Sequential Least Squares Programming Optimizer (or SLSQP for short), which supports nonlinear constraints.</a:t>
            </a:r>
          </a:p>
          <a:p>
            <a:endParaRPr lang="en-US"/>
          </a:p>
          <a:p>
            <a:r>
              <a:rPr lang="en-US"/>
              <a:t>We ran 50 optimization trials, each starting from a different point within 10% of the variable range, centered around the best-performing random sample found in the random sweep.</a:t>
            </a:r>
          </a:p>
          <a:p>
            <a:endParaRPr lang="en-US"/>
          </a:p>
          <a:p>
            <a:r>
              <a:rPr lang="en-US"/>
              <a:t>The most optimal point found across all trials was then passed to the next stage of our inverse design, the validation of our prediction using an </a:t>
            </a:r>
            <a:r>
              <a:rPr lang="en-US" err="1"/>
              <a:t>nTop</a:t>
            </a:r>
            <a:r>
              <a:rPr lang="en-US"/>
              <a:t> simulation.</a:t>
            </a:r>
          </a:p>
          <a:p>
            <a:endParaRPr lang="en-US"/>
          </a:p>
          <a:p>
            <a:endParaRPr lang="en-US"/>
          </a:p>
        </p:txBody>
      </p:sp>
      <p:sp>
        <p:nvSpPr>
          <p:cNvPr id="4" name="Slide Number Placeholder 3"/>
          <p:cNvSpPr>
            <a:spLocks noGrp="1"/>
          </p:cNvSpPr>
          <p:nvPr>
            <p:ph type="sldNum" sz="quarter" idx="5"/>
          </p:nvPr>
        </p:nvSpPr>
        <p:spPr/>
        <p:txBody>
          <a:bodyPr/>
          <a:lstStyle/>
          <a:p>
            <a:fld id="{D66B2DAA-3BE1-4BD8-A2AB-8BDC97B0F379}" type="slidenum">
              <a:rPr lang="en-US" smtClean="0"/>
              <a:t>12</a:t>
            </a:fld>
            <a:endParaRPr lang="en-US"/>
          </a:p>
        </p:txBody>
      </p:sp>
    </p:spTree>
    <p:extLst>
      <p:ext uri="{BB962C8B-B14F-4D97-AF65-F5344CB8AC3E}">
        <p14:creationId xmlns:p14="http://schemas.microsoft.com/office/powerpoint/2010/main" val="4265488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endParaRPr lang="en-US"/>
          </a:p>
          <a:p>
            <a:r>
              <a:rPr lang="en-US"/>
              <a:t>When the predicted optimal parameters are found using the optimization function, we feed those back into the </a:t>
            </a:r>
            <a:r>
              <a:rPr lang="en-US" err="1"/>
              <a:t>nTop</a:t>
            </a:r>
            <a:r>
              <a:rPr lang="en-US"/>
              <a:t> simulation to ensure it is a valid design point. In the table, we show an example optimum we found. </a:t>
            </a:r>
          </a:p>
        </p:txBody>
      </p:sp>
      <p:sp>
        <p:nvSpPr>
          <p:cNvPr id="4" name="Slide Number Placeholder 3"/>
          <p:cNvSpPr>
            <a:spLocks noGrp="1"/>
          </p:cNvSpPr>
          <p:nvPr>
            <p:ph type="sldNum" sz="quarter" idx="5"/>
          </p:nvPr>
        </p:nvSpPr>
        <p:spPr/>
        <p:txBody>
          <a:bodyPr/>
          <a:lstStyle/>
          <a:p>
            <a:fld id="{D66B2DAA-3BE1-4BD8-A2AB-8BDC97B0F379}" type="slidenum">
              <a:rPr lang="en-US" smtClean="0"/>
              <a:t>13</a:t>
            </a:fld>
            <a:endParaRPr lang="en-US"/>
          </a:p>
        </p:txBody>
      </p:sp>
    </p:spTree>
    <p:extLst>
      <p:ext uri="{BB962C8B-B14F-4D97-AF65-F5344CB8AC3E}">
        <p14:creationId xmlns:p14="http://schemas.microsoft.com/office/powerpoint/2010/main" val="737279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Nico</a:t>
            </a:r>
          </a:p>
          <a:p>
            <a:pPr>
              <a:defRPr/>
            </a:pPr>
            <a:endParaRPr lang="en-US"/>
          </a:p>
          <a:p>
            <a:pPr>
              <a:defRPr/>
            </a:pPr>
            <a:r>
              <a:rPr lang="en-US"/>
              <a:t>To measure our model's performance, we compared its surface area predictions across varying X and Y/Z cell sizes with the corresponding values from our generated dataset.</a:t>
            </a:r>
          </a:p>
          <a:p>
            <a:pPr>
              <a:defRPr/>
            </a:pPr>
            <a:endParaRPr lang="en-US"/>
          </a:p>
          <a:p>
            <a:pPr>
              <a:defRPr/>
            </a:pPr>
            <a:r>
              <a:rPr lang="en-US"/>
              <a:t>Figure 2 shows the predicted surface area distribution vs the dataset. The close alignment between the red points and the model surface indicates reliable predictions from our model. </a:t>
            </a:r>
          </a:p>
          <a:p>
            <a:pPr>
              <a:defRPr/>
            </a:pPr>
            <a:endParaRPr lang="en-US"/>
          </a:p>
          <a:p>
            <a:pPr>
              <a:defRPr/>
            </a:pPr>
            <a:r>
              <a:rPr lang="en-US"/>
              <a:t>Figure 3 shows the parity plot corresponding to the data in figure 2. The predicted and actual surface areas show a very close relation, with an R squared value of 0.9878 and an RMSE of 373.95. This confirms that our model can reliably predict the geometry-performance relationship.</a:t>
            </a:r>
          </a:p>
        </p:txBody>
      </p:sp>
      <p:sp>
        <p:nvSpPr>
          <p:cNvPr id="4" name="Slide Number Placeholder 3"/>
          <p:cNvSpPr>
            <a:spLocks noGrp="1"/>
          </p:cNvSpPr>
          <p:nvPr>
            <p:ph type="sldNum" sz="quarter" idx="5"/>
          </p:nvPr>
        </p:nvSpPr>
        <p:spPr/>
        <p:txBody>
          <a:bodyPr/>
          <a:lstStyle/>
          <a:p>
            <a:fld id="{D66B2DAA-3BE1-4BD8-A2AB-8BDC97B0F379}" type="slidenum">
              <a:rPr lang="en-US" smtClean="0"/>
              <a:t>14</a:t>
            </a:fld>
            <a:endParaRPr lang="en-US"/>
          </a:p>
        </p:txBody>
      </p:sp>
    </p:spTree>
    <p:extLst>
      <p:ext uri="{BB962C8B-B14F-4D97-AF65-F5344CB8AC3E}">
        <p14:creationId xmlns:p14="http://schemas.microsoft.com/office/powerpoint/2010/main" val="217105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a:p>
            <a:r>
              <a:rPr lang="en-US"/>
              <a:t>Here we outline some of the areas we wanted to explore if we had more time. </a:t>
            </a:r>
          </a:p>
          <a:p>
            <a:endParaRPr lang="en-US"/>
          </a:p>
          <a:p>
            <a:r>
              <a:rPr lang="en-US"/>
              <a:t>A big hurdle for us in the beginning was the large amount of data required to produce consistent and accurate results. </a:t>
            </a:r>
          </a:p>
          <a:p>
            <a:r>
              <a:rPr lang="en-US"/>
              <a:t>If we were to continue studying these surrogate models, this would be a major area of focus. </a:t>
            </a:r>
          </a:p>
          <a:p>
            <a:r>
              <a:rPr lang="en-US"/>
              <a:t>Can we use less data or even lower-fidelity data? </a:t>
            </a:r>
          </a:p>
          <a:p>
            <a:r>
              <a:rPr lang="en-US"/>
              <a:t>Can the accuracy of the model predictions be improved without generating mountains of additional data?</a:t>
            </a:r>
          </a:p>
          <a:p>
            <a:endParaRPr lang="en-US"/>
          </a:p>
          <a:p>
            <a:r>
              <a:rPr lang="en-US"/>
              <a:t>Next, we looked for ways to improve our confidence in the predictions we obtained from our model.</a:t>
            </a:r>
          </a:p>
          <a:p>
            <a:r>
              <a:rPr lang="en-US"/>
              <a:t>Could we do additional post-processing on the predictions to find stable maxima instead of points that require impossible manufacturing tolerances? </a:t>
            </a:r>
          </a:p>
          <a:p>
            <a:r>
              <a:rPr lang="en-US"/>
              <a:t>Or can we bake in a prediction tolerance to represent the range of uncertainty in the value? </a:t>
            </a:r>
          </a:p>
          <a:p>
            <a:r>
              <a:rPr lang="en-US"/>
              <a:t>This could inform the user about how much trust should be placed in the values the model predicts.</a:t>
            </a:r>
          </a:p>
        </p:txBody>
      </p:sp>
      <p:sp>
        <p:nvSpPr>
          <p:cNvPr id="4" name="Slide Number Placeholder 3"/>
          <p:cNvSpPr>
            <a:spLocks noGrp="1"/>
          </p:cNvSpPr>
          <p:nvPr>
            <p:ph type="sldNum" sz="quarter" idx="5"/>
          </p:nvPr>
        </p:nvSpPr>
        <p:spPr/>
        <p:txBody>
          <a:bodyPr/>
          <a:lstStyle/>
          <a:p>
            <a:fld id="{D66B2DAA-3BE1-4BD8-A2AB-8BDC97B0F379}" type="slidenum">
              <a:rPr lang="en-US" smtClean="0"/>
              <a:t>15</a:t>
            </a:fld>
            <a:endParaRPr lang="en-US"/>
          </a:p>
        </p:txBody>
      </p:sp>
    </p:spTree>
    <p:extLst>
      <p:ext uri="{BB962C8B-B14F-4D97-AF65-F5344CB8AC3E}">
        <p14:creationId xmlns:p14="http://schemas.microsoft.com/office/powerpoint/2010/main" val="1764516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a:t>
            </a:r>
          </a:p>
          <a:p>
            <a:r>
              <a:rPr lang="en-US"/>
              <a:t>Thank you for your time and attention.</a:t>
            </a:r>
          </a:p>
          <a:p>
            <a:endParaRPr lang="en-US"/>
          </a:p>
          <a:p>
            <a:r>
              <a:rPr lang="en-US"/>
              <a:t>Any questions?</a:t>
            </a:r>
          </a:p>
        </p:txBody>
      </p:sp>
      <p:sp>
        <p:nvSpPr>
          <p:cNvPr id="4" name="Slide Number Placeholder 3"/>
          <p:cNvSpPr>
            <a:spLocks noGrp="1"/>
          </p:cNvSpPr>
          <p:nvPr>
            <p:ph type="sldNum" sz="quarter" idx="5"/>
          </p:nvPr>
        </p:nvSpPr>
        <p:spPr/>
        <p:txBody>
          <a:bodyPr/>
          <a:lstStyle/>
          <a:p>
            <a:fld id="{D66B2DAA-3BE1-4BD8-A2AB-8BDC97B0F379}" type="slidenum">
              <a:rPr lang="en-US" smtClean="0"/>
              <a:t>16</a:t>
            </a:fld>
            <a:endParaRPr lang="en-US"/>
          </a:p>
        </p:txBody>
      </p:sp>
    </p:spTree>
    <p:extLst>
      <p:ext uri="{BB962C8B-B14F-4D97-AF65-F5344CB8AC3E}">
        <p14:creationId xmlns:p14="http://schemas.microsoft.com/office/powerpoint/2010/main" val="3337142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1967-91CF-170E-417C-526DB993B2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3D3069-66F3-29F7-8C41-D1657C137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E8C530-27DA-2C50-9F9A-09B910B512D5}"/>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8221E73F-5CB3-BE6A-160C-9E990939C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CEADD-B21D-1D7C-7C84-279A1BF48877}"/>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4144323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2B0E-6591-F43D-8C50-03CC4D308A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1D7098-B93E-4BBB-4865-C8ACF1D7BA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17DBC-2656-5B96-064C-8FB663F6A54C}"/>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5DC63E3F-1305-D056-003B-10A38E27F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40C5F-2FD3-8F5E-CC10-50CF28F91FA7}"/>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4017394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4B77-D563-167A-92C7-D63F478F21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42B48C-EB7C-A41E-EFF4-957BD10979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18B926-7BDC-4084-B3DD-77CD88EB28EC}"/>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81FB3D68-1879-2B8D-8F61-C70B16CE30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C79D7-C335-D4EC-386E-2CC13359BD29}"/>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3160281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7BBC4-631C-6C3C-44C2-95C4AE7E8A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6191CF-B9EE-D899-E608-45A095B1D2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D5985A-84BC-3E59-A9A4-6607CAAAF2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67193F-E974-7E31-895B-F68FC0932608}"/>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6" name="Footer Placeholder 5">
            <a:extLst>
              <a:ext uri="{FF2B5EF4-FFF2-40B4-BE49-F238E27FC236}">
                <a16:creationId xmlns:a16="http://schemas.microsoft.com/office/drawing/2014/main" id="{303EE4CE-62E3-427A-E340-AA2F25D24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3D07C8-518D-5DAB-05FF-F3919789F32A}"/>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1543548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8F61-9A83-FA4C-9338-5D9D4730E3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28516B-6A83-291D-438C-408DE9EBD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A56B96-0DC8-1532-EF84-4807678E20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338DBF-8CD4-A931-2A24-5429CBCA64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04A2F-44E8-38C0-A827-CD3A159F00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F3B31F-8CAB-EA1F-B836-3F4206EC1ECB}"/>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8" name="Footer Placeholder 7">
            <a:extLst>
              <a:ext uri="{FF2B5EF4-FFF2-40B4-BE49-F238E27FC236}">
                <a16:creationId xmlns:a16="http://schemas.microsoft.com/office/drawing/2014/main" id="{B91E8767-ECAF-7676-BF6F-B6B3DF9DD1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26F535-D65C-FE38-14FA-F1D808467E15}"/>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2691906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E300-0F5E-2C79-F865-04A67EEC31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A83390-13E4-7666-761F-6547B7735ED6}"/>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4" name="Footer Placeholder 3">
            <a:extLst>
              <a:ext uri="{FF2B5EF4-FFF2-40B4-BE49-F238E27FC236}">
                <a16:creationId xmlns:a16="http://schemas.microsoft.com/office/drawing/2014/main" id="{29BD8C4B-3A3D-1AA4-4C68-F469CBA5E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3826CE-E968-7101-9CFB-3439CB7C010F}"/>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1720891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E7EA3B-A503-E846-F6C1-2BE0AFFA0174}"/>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3" name="Footer Placeholder 2">
            <a:extLst>
              <a:ext uri="{FF2B5EF4-FFF2-40B4-BE49-F238E27FC236}">
                <a16:creationId xmlns:a16="http://schemas.microsoft.com/office/drawing/2014/main" id="{54C0BA06-66AD-F39A-F5ED-0E0316626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0E71A9-6327-6759-7E10-08707F2018FE}"/>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2057630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20B8-23A2-CC70-CFB6-BEA3F185C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DCD5CE-F0AE-7419-3923-175F088B19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717761-820D-694F-927E-CA37D0C6EB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095BDA-E549-7992-9A6A-0ED7266BCB38}"/>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6" name="Footer Placeholder 5">
            <a:extLst>
              <a:ext uri="{FF2B5EF4-FFF2-40B4-BE49-F238E27FC236}">
                <a16:creationId xmlns:a16="http://schemas.microsoft.com/office/drawing/2014/main" id="{4F119E0D-9360-843B-7415-D01FA3A0EB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F79B7-45B3-18B8-CFA9-9AF3BA9D0ED5}"/>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4126725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0B3E-08CE-79C4-C9BF-9AE00354F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6860BD-2B1F-038A-EE88-23E84F42A8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72043C-544F-0773-A044-61B07308F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983FD-35A0-3D0D-F99C-DC1A60E5EA13}"/>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6" name="Footer Placeholder 5">
            <a:extLst>
              <a:ext uri="{FF2B5EF4-FFF2-40B4-BE49-F238E27FC236}">
                <a16:creationId xmlns:a16="http://schemas.microsoft.com/office/drawing/2014/main" id="{0C24AA21-A3B1-F89E-116D-70D581390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CB6FB1-E819-6976-03F9-569A6A249427}"/>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4285192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AA45-D464-D957-E799-ED11837C2F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42DF72-8E6A-4953-CF2B-F899331B2E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03520-37FC-739A-D78F-B4C598156602}"/>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9A81F9FB-09EE-AD36-894B-D61E5F5BB8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6DD7E-1FE3-70B1-F9F2-37DFF62CE993}"/>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2708371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A104F-2A49-E608-D399-E2827ADD3C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F8ED92-D4F9-64C2-C419-4B47EFFB03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3FD9E2-D9CA-8844-C409-020DB8E4057C}"/>
              </a:ext>
            </a:extLst>
          </p:cNvPr>
          <p:cNvSpPr>
            <a:spLocks noGrp="1"/>
          </p:cNvSpPr>
          <p:nvPr>
            <p:ph type="dt" sz="half" idx="10"/>
          </p:nvPr>
        </p:nvSpPr>
        <p:spPr/>
        <p:txBody>
          <a:body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49BF4569-43F0-A023-06BE-254AD76DB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1C213-9606-7082-86E7-93AE05FB2692}"/>
              </a:ext>
            </a:extLst>
          </p:cNvPr>
          <p:cNvSpPr>
            <a:spLocks noGrp="1"/>
          </p:cNvSpPr>
          <p:nvPr>
            <p:ph type="sldNum" sz="quarter" idx="12"/>
          </p:nvPr>
        </p:nvSpPr>
        <p:spPr/>
        <p:txBody>
          <a:bodyPr/>
          <a:lstStyle/>
          <a:p>
            <a:fld id="{B383B4F5-16E8-44AF-9F96-A3A0FEA50D74}" type="slidenum">
              <a:rPr lang="en-US" smtClean="0"/>
              <a:t>‹#›</a:t>
            </a:fld>
            <a:endParaRPr lang="en-US"/>
          </a:p>
        </p:txBody>
      </p:sp>
    </p:spTree>
    <p:extLst>
      <p:ext uri="{BB962C8B-B14F-4D97-AF65-F5344CB8AC3E}">
        <p14:creationId xmlns:p14="http://schemas.microsoft.com/office/powerpoint/2010/main" val="86217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BE33F-5176-E351-926C-CC902E78A5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23270F-CD6C-18E3-5B01-3FD4BDC99D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96C10D-98FA-61E7-5951-EED9406B86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F117BD-2965-4AE1-A719-7DA9172CA5A6}" type="datetimeFigureOut">
              <a:rPr lang="en-US" smtClean="0"/>
              <a:t>8/17/2025</a:t>
            </a:fld>
            <a:endParaRPr lang="en-US"/>
          </a:p>
        </p:txBody>
      </p:sp>
      <p:sp>
        <p:nvSpPr>
          <p:cNvPr id="5" name="Footer Placeholder 4">
            <a:extLst>
              <a:ext uri="{FF2B5EF4-FFF2-40B4-BE49-F238E27FC236}">
                <a16:creationId xmlns:a16="http://schemas.microsoft.com/office/drawing/2014/main" id="{B8883BFC-7BC2-7A9C-0C6B-91991BDD4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8CDC7E-1C9B-F3EF-01C2-7514C87CF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83B4F5-16E8-44AF-9F96-A3A0FEA50D74}" type="slidenum">
              <a:rPr lang="en-US" smtClean="0"/>
              <a:t>‹#›</a:t>
            </a:fld>
            <a:endParaRPr lang="en-US"/>
          </a:p>
        </p:txBody>
      </p:sp>
    </p:spTree>
    <p:extLst>
      <p:ext uri="{BB962C8B-B14F-4D97-AF65-F5344CB8AC3E}">
        <p14:creationId xmlns:p14="http://schemas.microsoft.com/office/powerpoint/2010/main" val="1178729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108_1739ED2F.xml"/><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B_244C86A6.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04_5854979E.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F5D33-A82C-1C3B-0D11-45450284D5FE}"/>
              </a:ext>
            </a:extLst>
          </p:cNvPr>
          <p:cNvSpPr>
            <a:spLocks noGrp="1"/>
          </p:cNvSpPr>
          <p:nvPr>
            <p:ph type="ctrTitle"/>
          </p:nvPr>
        </p:nvSpPr>
        <p:spPr>
          <a:xfrm>
            <a:off x="838200" y="451381"/>
            <a:ext cx="10512552" cy="4066540"/>
          </a:xfrm>
        </p:spPr>
        <p:txBody>
          <a:bodyPr anchor="b">
            <a:normAutofit/>
          </a:bodyPr>
          <a:lstStyle/>
          <a:p>
            <a:pPr algn="l"/>
            <a:r>
              <a:rPr lang="en-US" sz="6600"/>
              <a:t>Accelerating Design Exploration and Optimization with Surrogate Physics Models</a:t>
            </a:r>
          </a:p>
        </p:txBody>
      </p:sp>
      <p:sp>
        <p:nvSpPr>
          <p:cNvPr id="3" name="Subtitle 2">
            <a:extLst>
              <a:ext uri="{FF2B5EF4-FFF2-40B4-BE49-F238E27FC236}">
                <a16:creationId xmlns:a16="http://schemas.microsoft.com/office/drawing/2014/main" id="{8E9ACDFB-1CE4-3799-F427-B1F833FAF4B8}"/>
              </a:ext>
            </a:extLst>
          </p:cNvPr>
          <p:cNvSpPr>
            <a:spLocks noGrp="1"/>
          </p:cNvSpPr>
          <p:nvPr>
            <p:ph type="subTitle" idx="1"/>
          </p:nvPr>
        </p:nvSpPr>
        <p:spPr>
          <a:xfrm>
            <a:off x="838199" y="4983276"/>
            <a:ext cx="10512552" cy="1126680"/>
          </a:xfrm>
        </p:spPr>
        <p:txBody>
          <a:bodyPr>
            <a:normAutofit/>
          </a:bodyPr>
          <a:lstStyle/>
          <a:p>
            <a:pPr algn="l"/>
            <a:r>
              <a:rPr lang="en-US"/>
              <a:t>Nico Quirante</a:t>
            </a:r>
          </a:p>
          <a:p>
            <a:pPr algn="l"/>
            <a:r>
              <a:rPr lang="en-US"/>
              <a:t>Jack Bajcz</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533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6A08A2-9D8D-5122-4030-2FC45D8CBAFF}"/>
              </a:ext>
            </a:extLst>
          </p:cNvPr>
          <p:cNvSpPr>
            <a:spLocks noGrp="1"/>
          </p:cNvSpPr>
          <p:nvPr>
            <p:ph type="title"/>
          </p:nvPr>
        </p:nvSpPr>
        <p:spPr>
          <a:xfrm>
            <a:off x="640080" y="329184"/>
            <a:ext cx="6894576" cy="1783080"/>
          </a:xfrm>
        </p:spPr>
        <p:txBody>
          <a:bodyPr anchor="b">
            <a:normAutofit/>
          </a:bodyPr>
          <a:lstStyle/>
          <a:p>
            <a:r>
              <a:rPr lang="en-US" sz="5400"/>
              <a:t>Our Background</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BF276D4B-ED73-5DD1-4C1C-3D3A060DD103}"/>
              </a:ext>
            </a:extLst>
          </p:cNvPr>
          <p:cNvSpPr>
            <a:spLocks noGrp="1"/>
          </p:cNvSpPr>
          <p:nvPr>
            <p:ph idx="1"/>
          </p:nvPr>
        </p:nvSpPr>
        <p:spPr>
          <a:xfrm>
            <a:off x="640080" y="2706624"/>
            <a:ext cx="6894576" cy="3483864"/>
          </a:xfrm>
        </p:spPr>
        <p:txBody>
          <a:bodyPr>
            <a:normAutofit/>
          </a:bodyPr>
          <a:lstStyle/>
          <a:p>
            <a:r>
              <a:rPr lang="en-US" sz="2200"/>
              <a:t>Graduate research assistants in the Facility for Rare Isotope Beams (FRIB) cryogenics department</a:t>
            </a:r>
          </a:p>
          <a:p>
            <a:r>
              <a:rPr lang="en-US" sz="2200"/>
              <a:t>FRIB is a DOE-funded accelerator facility on the campus of Michigan State University</a:t>
            </a:r>
          </a:p>
          <a:p>
            <a:endParaRPr lang="en-US" sz="2200"/>
          </a:p>
          <a:p>
            <a:pPr marL="0" indent="0">
              <a:buNone/>
            </a:pPr>
            <a:endParaRPr lang="en-US" sz="2200"/>
          </a:p>
        </p:txBody>
      </p:sp>
      <p:pic>
        <p:nvPicPr>
          <p:cNvPr id="12" name="Picture 11">
            <a:extLst>
              <a:ext uri="{FF2B5EF4-FFF2-40B4-BE49-F238E27FC236}">
                <a16:creationId xmlns:a16="http://schemas.microsoft.com/office/drawing/2014/main" id="{FD1E17E5-B547-EA3C-FE4F-C3C446759097}"/>
              </a:ext>
            </a:extLst>
          </p:cNvPr>
          <p:cNvPicPr>
            <a:picLocks noChangeAspect="1"/>
          </p:cNvPicPr>
          <p:nvPr/>
        </p:nvPicPr>
        <p:blipFill>
          <a:blip r:embed="rId3"/>
          <a:stretch>
            <a:fillRect/>
          </a:stretch>
        </p:blipFill>
        <p:spPr>
          <a:xfrm>
            <a:off x="8588428" y="636417"/>
            <a:ext cx="2546751" cy="3429969"/>
          </a:xfrm>
          <a:prstGeom prst="rect">
            <a:avLst/>
          </a:prstGeom>
        </p:spPr>
      </p:pic>
      <p:pic>
        <p:nvPicPr>
          <p:cNvPr id="10" name="Picture 9">
            <a:extLst>
              <a:ext uri="{FF2B5EF4-FFF2-40B4-BE49-F238E27FC236}">
                <a16:creationId xmlns:a16="http://schemas.microsoft.com/office/drawing/2014/main" id="{964FBA2A-DE59-3AC2-4304-B6DAF36492C8}"/>
              </a:ext>
            </a:extLst>
          </p:cNvPr>
          <p:cNvPicPr>
            <a:picLocks noChangeAspect="1"/>
          </p:cNvPicPr>
          <p:nvPr/>
        </p:nvPicPr>
        <p:blipFill>
          <a:blip r:embed="rId4"/>
          <a:stretch>
            <a:fillRect/>
          </a:stretch>
        </p:blipFill>
        <p:spPr>
          <a:xfrm>
            <a:off x="7863840" y="4702802"/>
            <a:ext cx="3995928" cy="929053"/>
          </a:xfrm>
          <a:prstGeom prst="rect">
            <a:avLst/>
          </a:prstGeom>
        </p:spPr>
      </p:pic>
    </p:spTree>
    <p:extLst>
      <p:ext uri="{BB962C8B-B14F-4D97-AF65-F5344CB8AC3E}">
        <p14:creationId xmlns:p14="http://schemas.microsoft.com/office/powerpoint/2010/main" val="2085788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0306EE-6CF5-6111-1484-48D4EF807F2D}"/>
              </a:ext>
            </a:extLst>
          </p:cNvPr>
          <p:cNvSpPr>
            <a:spLocks noGrp="1"/>
          </p:cNvSpPr>
          <p:nvPr>
            <p:ph type="title"/>
          </p:nvPr>
        </p:nvSpPr>
        <p:spPr>
          <a:xfrm>
            <a:off x="572493" y="238539"/>
            <a:ext cx="11018520" cy="1434415"/>
          </a:xfrm>
        </p:spPr>
        <p:txBody>
          <a:bodyPr anchor="b">
            <a:normAutofit/>
          </a:bodyPr>
          <a:lstStyle/>
          <a:p>
            <a:r>
              <a:rPr lang="en-US" sz="5400"/>
              <a:t>Jack Bajcz</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3250C0-AE3E-B6F5-CEB9-B710CCAC27A7}"/>
              </a:ext>
            </a:extLst>
          </p:cNvPr>
          <p:cNvSpPr>
            <a:spLocks noGrp="1"/>
          </p:cNvSpPr>
          <p:nvPr>
            <p:ph idx="1"/>
          </p:nvPr>
        </p:nvSpPr>
        <p:spPr>
          <a:xfrm>
            <a:off x="572493" y="2071316"/>
            <a:ext cx="6713552" cy="4119172"/>
          </a:xfrm>
        </p:spPr>
        <p:txBody>
          <a:bodyPr anchor="t">
            <a:normAutofit/>
          </a:bodyPr>
          <a:lstStyle/>
          <a:p>
            <a:pPr marL="0" indent="0">
              <a:buNone/>
            </a:pPr>
            <a:r>
              <a:rPr lang="en-US" sz="2000"/>
              <a:t>BS in Mechanical Engineering</a:t>
            </a:r>
          </a:p>
          <a:p>
            <a:pPr marL="0" indent="0">
              <a:buNone/>
            </a:pPr>
            <a:r>
              <a:rPr lang="en-US" sz="2000"/>
              <a:t>	Concentration in Computational Design</a:t>
            </a:r>
          </a:p>
          <a:p>
            <a:pPr marL="0" indent="0">
              <a:buNone/>
            </a:pPr>
            <a:r>
              <a:rPr lang="en-US" sz="2000"/>
              <a:t>	Minors in Computer Science and German</a:t>
            </a:r>
          </a:p>
          <a:p>
            <a:pPr marL="0" indent="0">
              <a:buNone/>
            </a:pPr>
            <a:r>
              <a:rPr lang="en-US" sz="2000"/>
              <a:t>MS in Mechanical Engineering</a:t>
            </a:r>
          </a:p>
          <a:p>
            <a:pPr marL="0" indent="0">
              <a:buNone/>
            </a:pPr>
            <a:r>
              <a:rPr lang="en-US" sz="2000"/>
              <a:t>	Working thesis title:</a:t>
            </a:r>
          </a:p>
          <a:p>
            <a:pPr marL="0" indent="0">
              <a:buNone/>
            </a:pPr>
            <a:r>
              <a:rPr lang="en-US" sz="2000"/>
              <a:t>	“Performance Characterization of a Helium 	Freeze-out Purifier”</a:t>
            </a:r>
          </a:p>
          <a:p>
            <a:pPr marL="0" indent="0">
              <a:buNone/>
            </a:pPr>
            <a:r>
              <a:rPr lang="en-US" sz="2000"/>
              <a:t>Hobbies:</a:t>
            </a:r>
          </a:p>
          <a:p>
            <a:r>
              <a:rPr lang="en-US" sz="2000"/>
              <a:t>3D printing</a:t>
            </a:r>
          </a:p>
          <a:p>
            <a:r>
              <a:rPr lang="en-US" sz="2000"/>
              <a:t>Rowing</a:t>
            </a:r>
          </a:p>
        </p:txBody>
      </p:sp>
      <p:pic>
        <p:nvPicPr>
          <p:cNvPr id="7" name="Picture 6" descr="A person in a black shirt&#10;&#10;AI-generated content may be incorrect.">
            <a:extLst>
              <a:ext uri="{FF2B5EF4-FFF2-40B4-BE49-F238E27FC236}">
                <a16:creationId xmlns:a16="http://schemas.microsoft.com/office/drawing/2014/main" id="{60DD64F6-18E8-9FF3-9FB1-7E6A4E77967C}"/>
              </a:ext>
            </a:extLst>
          </p:cNvPr>
          <p:cNvPicPr>
            <a:picLocks noChangeAspect="1"/>
          </p:cNvPicPr>
          <p:nvPr/>
        </p:nvPicPr>
        <p:blipFill>
          <a:blip r:embed="rId3">
            <a:extLst>
              <a:ext uri="{28A0092B-C50C-407E-A947-70E740481C1C}">
                <a14:useLocalDpi xmlns:a14="http://schemas.microsoft.com/office/drawing/2010/main" val="0"/>
              </a:ext>
            </a:extLst>
          </a:blip>
          <a:srcRect l="18293" r="9795"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060793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BACD3-5003-B360-184D-AC0921C1FC44}"/>
              </a:ext>
            </a:extLst>
          </p:cNvPr>
          <p:cNvSpPr>
            <a:spLocks noGrp="1"/>
          </p:cNvSpPr>
          <p:nvPr>
            <p:ph type="title"/>
          </p:nvPr>
        </p:nvSpPr>
        <p:spPr>
          <a:xfrm>
            <a:off x="572493" y="238539"/>
            <a:ext cx="11018520" cy="1434415"/>
          </a:xfrm>
        </p:spPr>
        <p:txBody>
          <a:bodyPr anchor="b">
            <a:normAutofit/>
          </a:bodyPr>
          <a:lstStyle/>
          <a:p>
            <a:r>
              <a:rPr lang="en-US" sz="5400"/>
              <a:t>Nico Quirante</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73201965-DD3E-6E41-171A-579E1D0C816D}"/>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buNone/>
            </a:pPr>
            <a:r>
              <a:rPr lang="en-US" sz="2200"/>
              <a:t>BS in Mechanical Engineering</a:t>
            </a:r>
          </a:p>
          <a:p>
            <a:pPr marL="0" indent="0">
              <a:buNone/>
            </a:pPr>
            <a:r>
              <a:rPr lang="en-US" sz="2200"/>
              <a:t>	Concentration in Cryogenics</a:t>
            </a:r>
          </a:p>
          <a:p>
            <a:pPr marL="0" indent="0">
              <a:buNone/>
            </a:pPr>
            <a:r>
              <a:rPr lang="en-US" sz="2200"/>
              <a:t>PhD in Mechanical Engineering (First-year)</a:t>
            </a:r>
          </a:p>
          <a:p>
            <a:pPr marL="0" indent="0">
              <a:buNone/>
            </a:pPr>
            <a:r>
              <a:rPr lang="en-US" sz="2200"/>
              <a:t>Hobbies:</a:t>
            </a:r>
          </a:p>
          <a:p>
            <a:r>
              <a:rPr lang="en-US" sz="2200"/>
              <a:t>Gym</a:t>
            </a:r>
          </a:p>
          <a:p>
            <a:r>
              <a:rPr lang="en-US" sz="2200"/>
              <a:t>Gaming</a:t>
            </a:r>
          </a:p>
        </p:txBody>
      </p:sp>
      <p:pic>
        <p:nvPicPr>
          <p:cNvPr id="6" name="Picture 5" descr="A person in a suit&#10;&#10;AI-generated content may be incorrect.">
            <a:extLst>
              <a:ext uri="{FF2B5EF4-FFF2-40B4-BE49-F238E27FC236}">
                <a16:creationId xmlns:a16="http://schemas.microsoft.com/office/drawing/2014/main" id="{62DC4870-3F80-3437-9E5E-2B15D79B28A2}"/>
              </a:ext>
            </a:extLst>
          </p:cNvPr>
          <p:cNvPicPr>
            <a:picLocks noChangeAspect="1"/>
          </p:cNvPicPr>
          <p:nvPr/>
        </p:nvPicPr>
        <p:blipFill>
          <a:blip r:embed="rId3"/>
          <a:srcRect l="-70" t="12044" r="71" b="18055"/>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169960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6FAB0-B7BF-1ADB-17BE-F61321DC2F23}"/>
              </a:ext>
            </a:extLst>
          </p:cNvPr>
          <p:cNvSpPr>
            <a:spLocks noGrp="1"/>
          </p:cNvSpPr>
          <p:nvPr>
            <p:ph type="title"/>
          </p:nvPr>
        </p:nvSpPr>
        <p:spPr>
          <a:xfrm>
            <a:off x="841248" y="548640"/>
            <a:ext cx="3600860" cy="5431536"/>
          </a:xfrm>
        </p:spPr>
        <p:txBody>
          <a:bodyPr>
            <a:normAutofit/>
          </a:bodyPr>
          <a:lstStyle/>
          <a:p>
            <a:r>
              <a:rPr lang="en-US" sz="5400"/>
              <a:t>Problem Introduction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7ECF91-7E9A-3972-7C8F-D7F11C3E90C1}"/>
              </a:ext>
            </a:extLst>
          </p:cNvPr>
          <p:cNvSpPr>
            <a:spLocks noGrp="1"/>
          </p:cNvSpPr>
          <p:nvPr>
            <p:ph idx="1"/>
          </p:nvPr>
        </p:nvSpPr>
        <p:spPr>
          <a:xfrm>
            <a:off x="5126418" y="552091"/>
            <a:ext cx="6224335" cy="5431536"/>
          </a:xfrm>
        </p:spPr>
        <p:txBody>
          <a:bodyPr vert="horz" lIns="91440" tIns="45720" rIns="91440" bIns="45720" rtlCol="0" anchor="ctr">
            <a:normAutofit/>
          </a:bodyPr>
          <a:lstStyle/>
          <a:p>
            <a:r>
              <a:rPr lang="en-US" sz="2200" b="1"/>
              <a:t>Challenge:</a:t>
            </a:r>
            <a:r>
              <a:rPr lang="en-US" sz="2200"/>
              <a:t> Predict performance metrics (Pressure Drop, Avg. Velocity, Surface Area, Mass) from design parameters</a:t>
            </a:r>
          </a:p>
          <a:p>
            <a:r>
              <a:rPr lang="en-US" sz="2200" b="1"/>
              <a:t>Goal:</a:t>
            </a:r>
            <a:r>
              <a:rPr lang="en-US" sz="2200"/>
              <a:t> Train a surrogate model and use inverse design to maximize surface area while satisfying the following constraints:</a:t>
            </a:r>
          </a:p>
          <a:p>
            <a:pPr lvl="1">
              <a:buFont typeface="Courier New" panose="020B0604020202020204" pitchFamily="34" charset="0"/>
              <a:buChar char="o"/>
            </a:pPr>
            <a:r>
              <a:rPr lang="en-US" sz="2200"/>
              <a:t>Mass &lt; 125 g</a:t>
            </a:r>
          </a:p>
          <a:p>
            <a:pPr lvl="1">
              <a:buFont typeface="Courier New" panose="020B0604020202020204" pitchFamily="34" charset="0"/>
              <a:buChar char="o"/>
            </a:pPr>
            <a:r>
              <a:rPr lang="en-US" sz="2200"/>
              <a:t>Pressure Drop &lt; 8000 Pa</a:t>
            </a:r>
          </a:p>
          <a:p>
            <a:pPr lvl="1">
              <a:buFont typeface="Courier New" panose="020B0604020202020204" pitchFamily="34" charset="0"/>
              <a:buChar char="o"/>
            </a:pPr>
            <a:r>
              <a:rPr lang="en-US" sz="2200"/>
              <a:t>Avg. Velocity &gt; 520 mm/s</a:t>
            </a:r>
          </a:p>
        </p:txBody>
      </p:sp>
    </p:spTree>
    <p:extLst>
      <p:ext uri="{BB962C8B-B14F-4D97-AF65-F5344CB8AC3E}">
        <p14:creationId xmlns:p14="http://schemas.microsoft.com/office/powerpoint/2010/main" val="381896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C101AD-62F0-B5EB-5384-0B191E933224}"/>
              </a:ext>
            </a:extLst>
          </p:cNvPr>
          <p:cNvSpPr>
            <a:spLocks noGrp="1"/>
          </p:cNvSpPr>
          <p:nvPr>
            <p:ph type="title"/>
          </p:nvPr>
        </p:nvSpPr>
        <p:spPr>
          <a:xfrm>
            <a:off x="838200" y="365125"/>
            <a:ext cx="10515600" cy="1325563"/>
          </a:xfrm>
        </p:spPr>
        <p:txBody>
          <a:bodyPr>
            <a:normAutofit/>
          </a:bodyPr>
          <a:lstStyle/>
          <a:p>
            <a:r>
              <a:rPr lang="en-US" sz="5400"/>
              <a:t>Why is this important?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2">
            <a:extLst>
              <a:ext uri="{FF2B5EF4-FFF2-40B4-BE49-F238E27FC236}">
                <a16:creationId xmlns:a16="http://schemas.microsoft.com/office/drawing/2014/main" id="{64402F6A-1640-1FC7-185A-89DFA0AC3B69}"/>
              </a:ext>
            </a:extLst>
          </p:cNvPr>
          <p:cNvSpPr>
            <a:spLocks noGrp="1"/>
          </p:cNvSpPr>
          <p:nvPr>
            <p:ph idx="1"/>
          </p:nvPr>
        </p:nvSpPr>
        <p:spPr>
          <a:xfrm>
            <a:off x="838200" y="1929384"/>
            <a:ext cx="10515600" cy="4251960"/>
          </a:xfrm>
        </p:spPr>
        <p:txBody>
          <a:bodyPr>
            <a:normAutofit/>
          </a:bodyPr>
          <a:lstStyle/>
          <a:p>
            <a:r>
              <a:rPr lang="en-US" sz="2200"/>
              <a:t>A surrogate model is less costly than full CFD simulations</a:t>
            </a:r>
          </a:p>
          <a:p>
            <a:pPr lvl="1"/>
            <a:r>
              <a:rPr lang="en-US" sz="2200"/>
              <a:t>Setup &amp; Calculation Time</a:t>
            </a:r>
          </a:p>
          <a:p>
            <a:pPr lvl="1"/>
            <a:r>
              <a:rPr lang="en-US" sz="2200"/>
              <a:t>Computational Power</a:t>
            </a:r>
          </a:p>
          <a:p>
            <a:pPr lvl="1"/>
            <a:r>
              <a:rPr lang="en-US" sz="2200"/>
              <a:t>Energy Consumption</a:t>
            </a:r>
          </a:p>
          <a:p>
            <a:pPr lvl="1"/>
            <a:r>
              <a:rPr lang="en-US" sz="2200"/>
              <a:t>Personnel &amp; Training</a:t>
            </a:r>
          </a:p>
          <a:p>
            <a:r>
              <a:rPr lang="en-US" sz="2200"/>
              <a:t>We’ve seen this in our own work</a:t>
            </a:r>
          </a:p>
        </p:txBody>
      </p:sp>
    </p:spTree>
    <p:extLst>
      <p:ext uri="{BB962C8B-B14F-4D97-AF65-F5344CB8AC3E}">
        <p14:creationId xmlns:p14="http://schemas.microsoft.com/office/powerpoint/2010/main" val="3379346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84416-CFFB-A006-D947-D2228AEAD862}"/>
              </a:ext>
            </a:extLst>
          </p:cNvPr>
          <p:cNvSpPr>
            <a:spLocks noGrp="1"/>
          </p:cNvSpPr>
          <p:nvPr>
            <p:ph type="title"/>
          </p:nvPr>
        </p:nvSpPr>
        <p:spPr>
          <a:xfrm>
            <a:off x="635000" y="640823"/>
            <a:ext cx="3418659" cy="5583148"/>
          </a:xfrm>
        </p:spPr>
        <p:txBody>
          <a:bodyPr anchor="ctr">
            <a:normAutofit/>
          </a:bodyPr>
          <a:lstStyle/>
          <a:p>
            <a:r>
              <a:rPr lang="en-US" sz="5400"/>
              <a:t>Dataset </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8E6E0EE-6E73-2E03-D8F1-B0D35FFE14C9}"/>
              </a:ext>
            </a:extLst>
          </p:cNvPr>
          <p:cNvGraphicFramePr>
            <a:graphicFrameLocks noGrp="1"/>
          </p:cNvGraphicFramePr>
          <p:nvPr>
            <p:ph idx="1"/>
            <p:extLst>
              <p:ext uri="{D42A27DB-BD31-4B8C-83A1-F6EECF244321}">
                <p14:modId xmlns:p14="http://schemas.microsoft.com/office/powerpoint/2010/main" val="80163085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090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D708E2-A22D-CF39-363C-B12BB113A665}"/>
              </a:ext>
            </a:extLst>
          </p:cNvPr>
          <p:cNvSpPr>
            <a:spLocks noGrp="1"/>
          </p:cNvSpPr>
          <p:nvPr>
            <p:ph type="title"/>
          </p:nvPr>
        </p:nvSpPr>
        <p:spPr>
          <a:xfrm>
            <a:off x="635000" y="640823"/>
            <a:ext cx="3418659" cy="5583148"/>
          </a:xfrm>
        </p:spPr>
        <p:txBody>
          <a:bodyPr anchor="ctr">
            <a:normAutofit/>
          </a:bodyPr>
          <a:lstStyle/>
          <a:p>
            <a:r>
              <a:rPr lang="en-US" sz="4200"/>
              <a:t>Preprocessing</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963121E-E747-8418-82AD-7793557D1E43}"/>
              </a:ext>
            </a:extLst>
          </p:cNvPr>
          <p:cNvGraphicFramePr>
            <a:graphicFrameLocks noGrp="1"/>
          </p:cNvGraphicFramePr>
          <p:nvPr>
            <p:ph idx="1"/>
            <p:extLst>
              <p:ext uri="{D42A27DB-BD31-4B8C-83A1-F6EECF244321}">
                <p14:modId xmlns:p14="http://schemas.microsoft.com/office/powerpoint/2010/main" val="160790450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367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45214-DA9D-482F-DE52-656B1F86F88F}"/>
              </a:ext>
            </a:extLst>
          </p:cNvPr>
          <p:cNvSpPr>
            <a:spLocks noGrp="1"/>
          </p:cNvSpPr>
          <p:nvPr>
            <p:ph type="title"/>
          </p:nvPr>
        </p:nvSpPr>
        <p:spPr>
          <a:xfrm>
            <a:off x="635000" y="640823"/>
            <a:ext cx="3418659" cy="5583148"/>
          </a:xfrm>
        </p:spPr>
        <p:txBody>
          <a:bodyPr anchor="ctr">
            <a:normAutofit/>
          </a:bodyPr>
          <a:lstStyle/>
          <a:p>
            <a:r>
              <a:rPr lang="en-US" sz="5400"/>
              <a:t>Surrogate Model Approach</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524A011-0E65-F029-0DE3-392430DFE04F}"/>
              </a:ext>
            </a:extLst>
          </p:cNvPr>
          <p:cNvGraphicFramePr>
            <a:graphicFrameLocks noGrp="1"/>
          </p:cNvGraphicFramePr>
          <p:nvPr>
            <p:ph idx="1"/>
            <p:extLst>
              <p:ext uri="{D42A27DB-BD31-4B8C-83A1-F6EECF244321}">
                <p14:modId xmlns:p14="http://schemas.microsoft.com/office/powerpoint/2010/main" val="1535015446"/>
              </p:ext>
            </p:extLst>
          </p:nvPr>
        </p:nvGraphicFramePr>
        <p:xfrm>
          <a:off x="4748757"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2646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0F66C-DC04-8650-015D-FC8C7C4B3959}"/>
              </a:ext>
            </a:extLst>
          </p:cNvPr>
          <p:cNvSpPr>
            <a:spLocks noGrp="1"/>
          </p:cNvSpPr>
          <p:nvPr>
            <p:ph type="title"/>
          </p:nvPr>
        </p:nvSpPr>
        <p:spPr>
          <a:xfrm>
            <a:off x="635000" y="640823"/>
            <a:ext cx="3418659" cy="5583148"/>
          </a:xfrm>
        </p:spPr>
        <p:txBody>
          <a:bodyPr anchor="ctr">
            <a:normAutofit/>
          </a:bodyPr>
          <a:lstStyle/>
          <a:p>
            <a:r>
              <a:rPr lang="en-US" sz="5400"/>
              <a:t>Inverse Design</a:t>
            </a:r>
          </a:p>
        </p:txBody>
      </p:sp>
      <p:sp>
        <p:nvSpPr>
          <p:cNvPr id="18"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59803C0-B9F6-ACA2-F0F5-DBE90EA2EB54}"/>
              </a:ext>
            </a:extLst>
          </p:cNvPr>
          <p:cNvGraphicFramePr>
            <a:graphicFrameLocks noGrp="1"/>
          </p:cNvGraphicFramePr>
          <p:nvPr>
            <p:ph idx="1"/>
            <p:extLst>
              <p:ext uri="{D42A27DB-BD31-4B8C-83A1-F6EECF244321}">
                <p14:modId xmlns:p14="http://schemas.microsoft.com/office/powerpoint/2010/main" val="2818596577"/>
              </p:ext>
            </p:extLst>
          </p:nvPr>
        </p:nvGraphicFramePr>
        <p:xfrm>
          <a:off x="5205557" y="640823"/>
          <a:ext cx="6456882" cy="5536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9672239"/>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BCE5D8-CB49-49FF-A4EC-F2D302BAE467}"/>
              </a:ext>
            </a:extLst>
          </p:cNvPr>
          <p:cNvSpPr>
            <a:spLocks noGrp="1"/>
          </p:cNvSpPr>
          <p:nvPr>
            <p:ph type="title"/>
          </p:nvPr>
        </p:nvSpPr>
        <p:spPr>
          <a:xfrm>
            <a:off x="630936" y="640080"/>
            <a:ext cx="4818888" cy="1481328"/>
          </a:xfrm>
        </p:spPr>
        <p:txBody>
          <a:bodyPr anchor="b">
            <a:normAutofit/>
          </a:bodyPr>
          <a:lstStyle/>
          <a:p>
            <a:r>
              <a:rPr lang="en-US" sz="5000"/>
              <a:t>Random Sampling</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CFA4F7-C3A8-FB34-F0C5-7CD2286CF8AE}"/>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b="1"/>
              <a:t>Samples: </a:t>
            </a:r>
            <a:r>
              <a:rPr lang="en-US" sz="2200"/>
              <a:t>1 million random points within input constraints</a:t>
            </a:r>
          </a:p>
          <a:p>
            <a:r>
              <a:rPr lang="en-US" sz="2200" b="1"/>
              <a:t>Feasibility Check: </a:t>
            </a:r>
            <a:r>
              <a:rPr lang="en-US" sz="2200"/>
              <a:t>Predict mass, pressure drop, and average velocity for each point and verify they are within constraints</a:t>
            </a:r>
          </a:p>
          <a:p>
            <a:r>
              <a:rPr lang="en-US" sz="2200" b="1"/>
              <a:t>Best Feasible Point: </a:t>
            </a:r>
            <a:r>
              <a:rPr lang="en-US" sz="2200"/>
              <a:t>Highest surface area among feasible points</a:t>
            </a:r>
          </a:p>
          <a:p>
            <a:pPr marL="0" indent="0">
              <a:buNone/>
            </a:pPr>
            <a:endParaRPr lang="en-US" sz="2200"/>
          </a:p>
        </p:txBody>
      </p:sp>
      <p:pic>
        <p:nvPicPr>
          <p:cNvPr id="7" name="Picture 6" descr="A graph of a design space&#10;&#10;AI-generated content may be incorrect.">
            <a:extLst>
              <a:ext uri="{FF2B5EF4-FFF2-40B4-BE49-F238E27FC236}">
                <a16:creationId xmlns:a16="http://schemas.microsoft.com/office/drawing/2014/main" id="{3FD83C86-97CC-1D6A-4CB2-92CBC9EDDC62}"/>
              </a:ext>
            </a:extLst>
          </p:cNvPr>
          <p:cNvPicPr>
            <a:picLocks noChangeAspect="1"/>
          </p:cNvPicPr>
          <p:nvPr/>
        </p:nvPicPr>
        <p:blipFill>
          <a:blip r:embed="rId4"/>
          <a:stretch>
            <a:fillRect/>
          </a:stretch>
        </p:blipFill>
        <p:spPr>
          <a:xfrm>
            <a:off x="6099048" y="1143058"/>
            <a:ext cx="5458968" cy="4571884"/>
          </a:xfrm>
          <a:prstGeom prst="rect">
            <a:avLst/>
          </a:prstGeom>
          <a:ln>
            <a:solidFill>
              <a:schemeClr val="tx1"/>
            </a:solidFill>
          </a:ln>
        </p:spPr>
      </p:pic>
      <p:sp>
        <p:nvSpPr>
          <p:cNvPr id="8" name="TextBox 7">
            <a:extLst>
              <a:ext uri="{FF2B5EF4-FFF2-40B4-BE49-F238E27FC236}">
                <a16:creationId xmlns:a16="http://schemas.microsoft.com/office/drawing/2014/main" id="{64C39754-B9D3-9F0A-54F8-DA9643C8368C}"/>
              </a:ext>
            </a:extLst>
          </p:cNvPr>
          <p:cNvSpPr txBox="1"/>
          <p:nvPr/>
        </p:nvSpPr>
        <p:spPr>
          <a:xfrm>
            <a:off x="7643165" y="5732473"/>
            <a:ext cx="2355494" cy="369332"/>
          </a:xfrm>
          <a:prstGeom prst="rect">
            <a:avLst/>
          </a:prstGeom>
          <a:noFill/>
        </p:spPr>
        <p:txBody>
          <a:bodyPr wrap="square" rtlCol="0">
            <a:spAutoFit/>
          </a:bodyPr>
          <a:lstStyle/>
          <a:p>
            <a:pPr algn="ctr"/>
            <a:r>
              <a:rPr lang="en-US"/>
              <a:t>Figure 1</a:t>
            </a:r>
          </a:p>
        </p:txBody>
      </p:sp>
    </p:spTree>
    <p:extLst>
      <p:ext uri="{BB962C8B-B14F-4D97-AF65-F5344CB8AC3E}">
        <p14:creationId xmlns:p14="http://schemas.microsoft.com/office/powerpoint/2010/main" val="608994982"/>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F32228-76F9-8AA6-D144-4E413EE86493}"/>
              </a:ext>
            </a:extLst>
          </p:cNvPr>
          <p:cNvSpPr>
            <a:spLocks noGrp="1"/>
          </p:cNvSpPr>
          <p:nvPr>
            <p:ph type="title"/>
          </p:nvPr>
        </p:nvSpPr>
        <p:spPr>
          <a:xfrm>
            <a:off x="621792" y="1161288"/>
            <a:ext cx="3602736" cy="4526280"/>
          </a:xfrm>
        </p:spPr>
        <p:txBody>
          <a:bodyPr>
            <a:normAutofit/>
          </a:bodyPr>
          <a:lstStyle/>
          <a:p>
            <a:r>
              <a:rPr lang="en-US" sz="4000"/>
              <a:t>Multi-Start Gradient Optimization</a:t>
            </a:r>
          </a:p>
        </p:txBody>
      </p:sp>
      <p:sp>
        <p:nvSpPr>
          <p:cNvPr id="22" name="Rectangle 21">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2" name="Content Placeholder 2">
            <a:extLst>
              <a:ext uri="{FF2B5EF4-FFF2-40B4-BE49-F238E27FC236}">
                <a16:creationId xmlns:a16="http://schemas.microsoft.com/office/drawing/2014/main" id="{162D7408-B964-84AD-5722-487A199E4836}"/>
              </a:ext>
            </a:extLst>
          </p:cNvPr>
          <p:cNvGraphicFramePr>
            <a:graphicFrameLocks noGrp="1"/>
          </p:cNvGraphicFramePr>
          <p:nvPr>
            <p:ph idx="1"/>
            <p:extLst>
              <p:ext uri="{D42A27DB-BD31-4B8C-83A1-F6EECF244321}">
                <p14:modId xmlns:p14="http://schemas.microsoft.com/office/powerpoint/2010/main" val="244694242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540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D8130-EC18-91F1-4028-503DFC6D4840}"/>
              </a:ext>
            </a:extLst>
          </p:cNvPr>
          <p:cNvSpPr>
            <a:spLocks noGrp="1"/>
          </p:cNvSpPr>
          <p:nvPr>
            <p:ph type="title"/>
          </p:nvPr>
        </p:nvSpPr>
        <p:spPr>
          <a:xfrm>
            <a:off x="630936" y="640080"/>
            <a:ext cx="4818888" cy="1481328"/>
          </a:xfrm>
        </p:spPr>
        <p:txBody>
          <a:bodyPr anchor="b">
            <a:normAutofit/>
          </a:bodyPr>
          <a:lstStyle/>
          <a:p>
            <a:r>
              <a:rPr lang="en-US" sz="5000"/>
              <a:t>Validation with nTop</a:t>
            </a:r>
          </a:p>
        </p:txBody>
      </p:sp>
      <p:sp>
        <p:nvSpPr>
          <p:cNvPr id="1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6E3BCA-5A0E-EA26-704A-9956BD866DBA}"/>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b="1"/>
              <a:t>Purpose: </a:t>
            </a:r>
            <a:r>
              <a:rPr lang="en-US" sz="2200"/>
              <a:t>Confirm surrogate prediction for optimal input parameters with nTop simulation </a:t>
            </a:r>
          </a:p>
          <a:p>
            <a:r>
              <a:rPr lang="en-US" sz="2200" b="1"/>
              <a:t>Example Optimum:</a:t>
            </a:r>
          </a:p>
          <a:p>
            <a:pPr lvl="1"/>
            <a:r>
              <a:rPr lang="en-US" sz="2200"/>
              <a:t>X Cell Size: 23.1363</a:t>
            </a:r>
          </a:p>
          <a:p>
            <a:pPr lvl="1"/>
            <a:r>
              <a:rPr lang="en-US" sz="2200"/>
              <a:t>Y/Z Cell Size: 21.0964</a:t>
            </a:r>
          </a:p>
          <a:p>
            <a:pPr lvl="1"/>
            <a:r>
              <a:rPr lang="en-US" sz="2200"/>
              <a:t>Inlet Velocity: 3290.8234</a:t>
            </a:r>
          </a:p>
          <a:p>
            <a:endParaRPr lang="en-US" sz="2200" b="1"/>
          </a:p>
          <a:p>
            <a:endParaRPr lang="en-US" sz="2200" b="1"/>
          </a:p>
        </p:txBody>
      </p:sp>
      <p:graphicFrame>
        <p:nvGraphicFramePr>
          <p:cNvPr id="4" name="Table 3">
            <a:extLst>
              <a:ext uri="{FF2B5EF4-FFF2-40B4-BE49-F238E27FC236}">
                <a16:creationId xmlns:a16="http://schemas.microsoft.com/office/drawing/2014/main" id="{76C8559B-ABCC-2FC0-F5DC-6C03E12B14D9}"/>
              </a:ext>
            </a:extLst>
          </p:cNvPr>
          <p:cNvGraphicFramePr>
            <a:graphicFrameLocks noGrp="1"/>
          </p:cNvGraphicFramePr>
          <p:nvPr>
            <p:extLst>
              <p:ext uri="{D42A27DB-BD31-4B8C-83A1-F6EECF244321}">
                <p14:modId xmlns:p14="http://schemas.microsoft.com/office/powerpoint/2010/main" val="1940434006"/>
              </p:ext>
            </p:extLst>
          </p:nvPr>
        </p:nvGraphicFramePr>
        <p:xfrm>
          <a:off x="5452871" y="2030677"/>
          <a:ext cx="6108193" cy="2796645"/>
        </p:xfrm>
        <a:graphic>
          <a:graphicData uri="http://schemas.openxmlformats.org/drawingml/2006/table">
            <a:tbl>
              <a:tblPr firstRow="1" bandRow="1">
                <a:tableStyleId>{21E4AEA4-8DFA-4A89-87EB-49C32662AFE0}</a:tableStyleId>
              </a:tblPr>
              <a:tblGrid>
                <a:gridCol w="1921035">
                  <a:extLst>
                    <a:ext uri="{9D8B030D-6E8A-4147-A177-3AD203B41FA5}">
                      <a16:colId xmlns:a16="http://schemas.microsoft.com/office/drawing/2014/main" val="3531169958"/>
                    </a:ext>
                  </a:extLst>
                </a:gridCol>
                <a:gridCol w="2011886">
                  <a:extLst>
                    <a:ext uri="{9D8B030D-6E8A-4147-A177-3AD203B41FA5}">
                      <a16:colId xmlns:a16="http://schemas.microsoft.com/office/drawing/2014/main" val="1213482721"/>
                    </a:ext>
                  </a:extLst>
                </a:gridCol>
                <a:gridCol w="2175272">
                  <a:extLst>
                    <a:ext uri="{9D8B030D-6E8A-4147-A177-3AD203B41FA5}">
                      <a16:colId xmlns:a16="http://schemas.microsoft.com/office/drawing/2014/main" val="2993504890"/>
                    </a:ext>
                  </a:extLst>
                </a:gridCol>
              </a:tblGrid>
              <a:tr h="864608">
                <a:tc>
                  <a:txBody>
                    <a:bodyPr/>
                    <a:lstStyle/>
                    <a:p>
                      <a:pPr algn="ctr"/>
                      <a:r>
                        <a:rPr lang="en-US" sz="2300"/>
                        <a:t>Output</a:t>
                      </a:r>
                    </a:p>
                  </a:txBody>
                  <a:tcPr marL="116839" marR="116839" marT="58419" marB="584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Model Prediction</a:t>
                      </a:r>
                    </a:p>
                  </a:txBody>
                  <a:tcPr marL="116839" marR="116839" marT="58419" marB="584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err="1"/>
                        <a:t>nTop</a:t>
                      </a:r>
                      <a:r>
                        <a:rPr lang="en-US" sz="2300"/>
                        <a:t> Simulation</a:t>
                      </a:r>
                    </a:p>
                  </a:txBody>
                  <a:tcPr marL="116839" marR="116839" marT="58419" marB="584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633467"/>
                  </a:ext>
                </a:extLst>
              </a:tr>
              <a:tr h="483230">
                <a:tc>
                  <a:txBody>
                    <a:bodyPr/>
                    <a:lstStyle/>
                    <a:p>
                      <a:r>
                        <a:rPr lang="en-US" sz="2300"/>
                        <a:t>Surface Area</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23365.6582</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23709.2144</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440981"/>
                  </a:ext>
                </a:extLst>
              </a:tr>
              <a:tr h="453224">
                <a:tc>
                  <a:txBody>
                    <a:bodyPr/>
                    <a:lstStyle/>
                    <a:p>
                      <a:r>
                        <a:rPr lang="en-US" sz="2300"/>
                        <a:t>Pressure</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5610.0811</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5734.4897</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3299286"/>
                  </a:ext>
                </a:extLst>
              </a:tr>
              <a:tr h="431139">
                <a:tc>
                  <a:txBody>
                    <a:bodyPr/>
                    <a:lstStyle/>
                    <a:p>
                      <a:r>
                        <a:rPr lang="en-US" sz="2300"/>
                        <a:t>Avg Velocity</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529.4271</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535.1234</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920878"/>
                  </a:ext>
                </a:extLst>
              </a:tr>
              <a:tr h="514091">
                <a:tc>
                  <a:txBody>
                    <a:bodyPr/>
                    <a:lstStyle/>
                    <a:p>
                      <a:r>
                        <a:rPr lang="en-US" sz="2300"/>
                        <a:t>Mass</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124.9252</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a:t>124.8487</a:t>
                      </a:r>
                    </a:p>
                  </a:txBody>
                  <a:tcPr marL="116839" marR="116839" marT="58419" marB="584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0876920"/>
                  </a:ext>
                </a:extLst>
              </a:tr>
            </a:tbl>
          </a:graphicData>
        </a:graphic>
      </p:graphicFrame>
    </p:spTree>
    <p:extLst>
      <p:ext uri="{BB962C8B-B14F-4D97-AF65-F5344CB8AC3E}">
        <p14:creationId xmlns:p14="http://schemas.microsoft.com/office/powerpoint/2010/main" val="122283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3305B-6AF8-CD4C-D59D-9F3055B5A666}"/>
              </a:ext>
            </a:extLst>
          </p:cNvPr>
          <p:cNvSpPr>
            <a:spLocks noGrp="1"/>
          </p:cNvSpPr>
          <p:nvPr>
            <p:ph type="title"/>
          </p:nvPr>
        </p:nvSpPr>
        <p:spPr>
          <a:xfrm>
            <a:off x="630936" y="457200"/>
            <a:ext cx="4343400" cy="1929384"/>
          </a:xfrm>
        </p:spPr>
        <p:txBody>
          <a:bodyPr anchor="ctr">
            <a:normAutofit/>
          </a:bodyPr>
          <a:lstStyle/>
          <a:p>
            <a:r>
              <a:rPr lang="en-US"/>
              <a:t>Model Performance Plots</a:t>
            </a:r>
          </a:p>
        </p:txBody>
      </p:sp>
      <p:sp>
        <p:nvSpPr>
          <p:cNvPr id="2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E78D27-CA64-2E99-61FB-13DB2F872E96}"/>
              </a:ext>
            </a:extLst>
          </p:cNvPr>
          <p:cNvSpPr>
            <a:spLocks noGrp="1"/>
          </p:cNvSpPr>
          <p:nvPr>
            <p:ph idx="1"/>
          </p:nvPr>
        </p:nvSpPr>
        <p:spPr>
          <a:xfrm>
            <a:off x="5541263" y="457200"/>
            <a:ext cx="6007608" cy="1929384"/>
          </a:xfrm>
        </p:spPr>
        <p:txBody>
          <a:bodyPr anchor="ctr">
            <a:normAutofit/>
          </a:bodyPr>
          <a:lstStyle/>
          <a:p>
            <a:pPr marL="0" indent="0">
              <a:buNone/>
            </a:pPr>
            <a:r>
              <a:rPr lang="en-US" sz="2200" b="1"/>
              <a:t>Inlet velocity: </a:t>
            </a:r>
            <a:r>
              <a:rPr lang="en-US" sz="2200"/>
              <a:t>2500 mm/s</a:t>
            </a:r>
            <a:endParaRPr lang="en-US" sz="2200" b="1"/>
          </a:p>
          <a:p>
            <a:pPr marL="0" indent="0">
              <a:buNone/>
            </a:pPr>
            <a:r>
              <a:rPr lang="en-US" sz="2200" b="1"/>
              <a:t>Points compared:</a:t>
            </a:r>
            <a:r>
              <a:rPr lang="en-US" sz="2200"/>
              <a:t> 100</a:t>
            </a:r>
          </a:p>
          <a:p>
            <a:pPr marL="0" indent="0">
              <a:buNone/>
            </a:pPr>
            <a:r>
              <a:rPr lang="en-US" sz="2200" b="1"/>
              <a:t>R</a:t>
            </a:r>
            <a:r>
              <a:rPr lang="en-US" sz="2200" b="1" baseline="30000"/>
              <a:t>2</a:t>
            </a:r>
            <a:r>
              <a:rPr lang="en-US" sz="2200" b="1"/>
              <a:t>:</a:t>
            </a:r>
            <a:r>
              <a:rPr lang="en-US" sz="2200"/>
              <a:t> 0.9878</a:t>
            </a:r>
          </a:p>
          <a:p>
            <a:pPr marL="0" indent="0">
              <a:buNone/>
            </a:pPr>
            <a:r>
              <a:rPr lang="en-US" sz="2200" b="1"/>
              <a:t>RMSE:</a:t>
            </a:r>
            <a:r>
              <a:rPr lang="en-US" sz="2200"/>
              <a:t> 373.95</a:t>
            </a:r>
          </a:p>
        </p:txBody>
      </p:sp>
      <p:pic>
        <p:nvPicPr>
          <p:cNvPr id="7" name="Picture 6">
            <a:extLst>
              <a:ext uri="{FF2B5EF4-FFF2-40B4-BE49-F238E27FC236}">
                <a16:creationId xmlns:a16="http://schemas.microsoft.com/office/drawing/2014/main" id="{EC7B0E9E-3239-6537-8A93-0E3D460B39FD}"/>
              </a:ext>
            </a:extLst>
          </p:cNvPr>
          <p:cNvPicPr>
            <a:picLocks noChangeAspect="1"/>
          </p:cNvPicPr>
          <p:nvPr/>
        </p:nvPicPr>
        <p:blipFill>
          <a:blip r:embed="rId3"/>
          <a:stretch>
            <a:fillRect/>
          </a:stretch>
        </p:blipFill>
        <p:spPr>
          <a:xfrm>
            <a:off x="7217666" y="2689098"/>
            <a:ext cx="3754016" cy="3678936"/>
          </a:xfrm>
          <a:prstGeom prst="rect">
            <a:avLst/>
          </a:prstGeom>
          <a:ln>
            <a:solidFill>
              <a:schemeClr val="tx1"/>
            </a:solidFill>
          </a:ln>
        </p:spPr>
      </p:pic>
      <p:pic>
        <p:nvPicPr>
          <p:cNvPr id="5" name="Picture 4">
            <a:extLst>
              <a:ext uri="{FF2B5EF4-FFF2-40B4-BE49-F238E27FC236}">
                <a16:creationId xmlns:a16="http://schemas.microsoft.com/office/drawing/2014/main" id="{187D165C-9CBE-87A5-136A-B96808B3F098}"/>
              </a:ext>
            </a:extLst>
          </p:cNvPr>
          <p:cNvPicPr>
            <a:picLocks noChangeAspect="1"/>
          </p:cNvPicPr>
          <p:nvPr/>
        </p:nvPicPr>
        <p:blipFill>
          <a:blip r:embed="rId4"/>
          <a:stretch>
            <a:fillRect/>
          </a:stretch>
        </p:blipFill>
        <p:spPr>
          <a:xfrm>
            <a:off x="1220318" y="2689098"/>
            <a:ext cx="4366689" cy="3678936"/>
          </a:xfrm>
          <a:prstGeom prst="rect">
            <a:avLst/>
          </a:prstGeom>
          <a:ln>
            <a:solidFill>
              <a:schemeClr val="tx1"/>
            </a:solidFill>
          </a:ln>
        </p:spPr>
      </p:pic>
      <p:sp>
        <p:nvSpPr>
          <p:cNvPr id="8" name="TextBox 7">
            <a:extLst>
              <a:ext uri="{FF2B5EF4-FFF2-40B4-BE49-F238E27FC236}">
                <a16:creationId xmlns:a16="http://schemas.microsoft.com/office/drawing/2014/main" id="{E0C0F048-136C-A287-E957-4CE7FF6DCF97}"/>
              </a:ext>
            </a:extLst>
          </p:cNvPr>
          <p:cNvSpPr txBox="1"/>
          <p:nvPr/>
        </p:nvSpPr>
        <p:spPr>
          <a:xfrm>
            <a:off x="2225915" y="6368034"/>
            <a:ext cx="2355494" cy="369332"/>
          </a:xfrm>
          <a:prstGeom prst="rect">
            <a:avLst/>
          </a:prstGeom>
          <a:noFill/>
        </p:spPr>
        <p:txBody>
          <a:bodyPr wrap="square" rtlCol="0">
            <a:spAutoFit/>
          </a:bodyPr>
          <a:lstStyle/>
          <a:p>
            <a:pPr algn="ctr"/>
            <a:r>
              <a:rPr lang="en-US"/>
              <a:t>Figure 2</a:t>
            </a:r>
          </a:p>
        </p:txBody>
      </p:sp>
      <p:sp>
        <p:nvSpPr>
          <p:cNvPr id="9" name="TextBox 8">
            <a:extLst>
              <a:ext uri="{FF2B5EF4-FFF2-40B4-BE49-F238E27FC236}">
                <a16:creationId xmlns:a16="http://schemas.microsoft.com/office/drawing/2014/main" id="{06CCB738-588A-06F0-06D6-5F461CA529AF}"/>
              </a:ext>
            </a:extLst>
          </p:cNvPr>
          <p:cNvSpPr txBox="1"/>
          <p:nvPr/>
        </p:nvSpPr>
        <p:spPr>
          <a:xfrm>
            <a:off x="7916927" y="6368034"/>
            <a:ext cx="2355494" cy="369332"/>
          </a:xfrm>
          <a:prstGeom prst="rect">
            <a:avLst/>
          </a:prstGeom>
          <a:noFill/>
        </p:spPr>
        <p:txBody>
          <a:bodyPr wrap="square" rtlCol="0">
            <a:spAutoFit/>
          </a:bodyPr>
          <a:lstStyle/>
          <a:p>
            <a:pPr algn="ctr"/>
            <a:r>
              <a:rPr lang="en-US"/>
              <a:t>Figure 3</a:t>
            </a:r>
          </a:p>
        </p:txBody>
      </p:sp>
    </p:spTree>
    <p:extLst>
      <p:ext uri="{BB962C8B-B14F-4D97-AF65-F5344CB8AC3E}">
        <p14:creationId xmlns:p14="http://schemas.microsoft.com/office/powerpoint/2010/main" val="200378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F79EEF-A208-BAD6-29B4-C6F2228BD1E0}"/>
              </a:ext>
            </a:extLst>
          </p:cNvPr>
          <p:cNvSpPr>
            <a:spLocks noGrp="1"/>
          </p:cNvSpPr>
          <p:nvPr>
            <p:ph type="title"/>
          </p:nvPr>
        </p:nvSpPr>
        <p:spPr>
          <a:xfrm>
            <a:off x="838200" y="365125"/>
            <a:ext cx="10515600" cy="1325563"/>
          </a:xfrm>
        </p:spPr>
        <p:txBody>
          <a:bodyPr>
            <a:normAutofit/>
          </a:bodyPr>
          <a:lstStyle/>
          <a:p>
            <a:r>
              <a:rPr lang="en-US" sz="5400"/>
              <a:t>Future improvements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51FA78-D35F-11AC-54D8-7D7566F8F57C}"/>
              </a:ext>
            </a:extLst>
          </p:cNvPr>
          <p:cNvSpPr>
            <a:spLocks noGrp="1"/>
          </p:cNvSpPr>
          <p:nvPr>
            <p:ph idx="1"/>
          </p:nvPr>
        </p:nvSpPr>
        <p:spPr>
          <a:xfrm>
            <a:off x="838200" y="1929384"/>
            <a:ext cx="10515600" cy="4251960"/>
          </a:xfrm>
        </p:spPr>
        <p:txBody>
          <a:bodyPr>
            <a:normAutofit/>
          </a:bodyPr>
          <a:lstStyle/>
          <a:p>
            <a:r>
              <a:rPr lang="en-US" sz="2200"/>
              <a:t>Reducing required data</a:t>
            </a:r>
          </a:p>
          <a:p>
            <a:pPr lvl="1"/>
            <a:r>
              <a:rPr lang="en-US" sz="2200"/>
              <a:t>Could adequate results be obtained with less data?</a:t>
            </a:r>
          </a:p>
          <a:p>
            <a:pPr lvl="1"/>
            <a:r>
              <a:rPr lang="en-US" sz="2200"/>
              <a:t>Could adequate results be obtained with lower quality data?</a:t>
            </a:r>
          </a:p>
          <a:p>
            <a:r>
              <a:rPr lang="en-US" sz="2200"/>
              <a:t>Can we improve surrogate model trust?</a:t>
            </a:r>
          </a:p>
          <a:p>
            <a:pPr lvl="1"/>
            <a:r>
              <a:rPr lang="en-US" sz="2200"/>
              <a:t>Could the inverse design method be altered to prefer more stable optima?</a:t>
            </a:r>
          </a:p>
          <a:p>
            <a:pPr lvl="1"/>
            <a:r>
              <a:rPr lang="en-US" sz="2200"/>
              <a:t>Can a prediction tolerance be added?</a:t>
            </a:r>
          </a:p>
        </p:txBody>
      </p:sp>
    </p:spTree>
    <p:extLst>
      <p:ext uri="{BB962C8B-B14F-4D97-AF65-F5344CB8AC3E}">
        <p14:creationId xmlns:p14="http://schemas.microsoft.com/office/powerpoint/2010/main" val="148193884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7436D5-1A6D-5985-2427-7D538D949314}"/>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Thank you!</a:t>
            </a:r>
            <a:br>
              <a:rPr lang="en-US" sz="6600" kern="1200">
                <a:solidFill>
                  <a:schemeClr val="tx1"/>
                </a:solidFill>
                <a:latin typeface="+mj-lt"/>
                <a:ea typeface="+mj-ea"/>
                <a:cs typeface="+mj-cs"/>
              </a:rPr>
            </a:br>
            <a:r>
              <a:rPr lang="en-US" sz="6600" kern="1200">
                <a:solidFill>
                  <a:schemeClr val="tx1"/>
                </a:solidFill>
                <a:latin typeface="+mj-lt"/>
                <a:ea typeface="+mj-ea"/>
                <a:cs typeface="+mj-cs"/>
              </a:rPr>
              <a:t>Questions?</a:t>
            </a:r>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onnsiteX0" fmla="*/ 0 w 6281928"/>
              <a:gd name="connsiteY0" fmla="*/ 0 h 18288"/>
              <a:gd name="connsiteX1" fmla="*/ 572353 w 6281928"/>
              <a:gd name="connsiteY1" fmla="*/ 0 h 18288"/>
              <a:gd name="connsiteX2" fmla="*/ 1207526 w 6281928"/>
              <a:gd name="connsiteY2" fmla="*/ 0 h 18288"/>
              <a:gd name="connsiteX3" fmla="*/ 1779880 w 6281928"/>
              <a:gd name="connsiteY3" fmla="*/ 0 h 18288"/>
              <a:gd name="connsiteX4" fmla="*/ 2540691 w 6281928"/>
              <a:gd name="connsiteY4" fmla="*/ 0 h 18288"/>
              <a:gd name="connsiteX5" fmla="*/ 3238683 w 6281928"/>
              <a:gd name="connsiteY5" fmla="*/ 0 h 18288"/>
              <a:gd name="connsiteX6" fmla="*/ 3936675 w 6281928"/>
              <a:gd name="connsiteY6" fmla="*/ 0 h 18288"/>
              <a:gd name="connsiteX7" fmla="*/ 4760305 w 6281928"/>
              <a:gd name="connsiteY7" fmla="*/ 0 h 18288"/>
              <a:gd name="connsiteX8" fmla="*/ 5521117 w 6281928"/>
              <a:gd name="connsiteY8" fmla="*/ 0 h 18288"/>
              <a:gd name="connsiteX9" fmla="*/ 6281928 w 6281928"/>
              <a:gd name="connsiteY9" fmla="*/ 0 h 18288"/>
              <a:gd name="connsiteX10" fmla="*/ 6281928 w 6281928"/>
              <a:gd name="connsiteY10" fmla="*/ 18288 h 18288"/>
              <a:gd name="connsiteX11" fmla="*/ 5772394 w 6281928"/>
              <a:gd name="connsiteY11" fmla="*/ 18288 h 18288"/>
              <a:gd name="connsiteX12" fmla="*/ 5200040 w 6281928"/>
              <a:gd name="connsiteY12" fmla="*/ 18288 h 18288"/>
              <a:gd name="connsiteX13" fmla="*/ 4439229 w 6281928"/>
              <a:gd name="connsiteY13" fmla="*/ 18288 h 18288"/>
              <a:gd name="connsiteX14" fmla="*/ 3615599 w 6281928"/>
              <a:gd name="connsiteY14" fmla="*/ 18288 h 18288"/>
              <a:gd name="connsiteX15" fmla="*/ 2980426 w 6281928"/>
              <a:gd name="connsiteY15" fmla="*/ 18288 h 18288"/>
              <a:gd name="connsiteX16" fmla="*/ 2156795 w 6281928"/>
              <a:gd name="connsiteY16" fmla="*/ 18288 h 18288"/>
              <a:gd name="connsiteX17" fmla="*/ 1584442 w 6281928"/>
              <a:gd name="connsiteY17" fmla="*/ 18288 h 18288"/>
              <a:gd name="connsiteX18" fmla="*/ 1074908 w 6281928"/>
              <a:gd name="connsiteY18" fmla="*/ 18288 h 18288"/>
              <a:gd name="connsiteX19" fmla="*/ 0 w 6281928"/>
              <a:gd name="connsiteY19" fmla="*/ 18288 h 18288"/>
              <a:gd name="connsiteX20" fmla="*/ 0 w 6281928"/>
              <a:gd name="connsiteY2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07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6B31CCF489F04E9A98590D1BDDFAFD" ma:contentTypeVersion="16" ma:contentTypeDescription="Create a new document." ma:contentTypeScope="" ma:versionID="34f70f36bb3fd128e65ee6042c64a85e">
  <xsd:schema xmlns:xsd="http://www.w3.org/2001/XMLSchema" xmlns:xs="http://www.w3.org/2001/XMLSchema" xmlns:p="http://schemas.microsoft.com/office/2006/metadata/properties" xmlns:ns3="15e89e24-2aba-45b7-8efd-fc9d9a434f6e" xmlns:ns4="1bee4405-928b-4826-a317-3293bd291210" targetNamespace="http://schemas.microsoft.com/office/2006/metadata/properties" ma:root="true" ma:fieldsID="034193765557dc1e974c2c7df7ac89f0" ns3:_="" ns4:_="">
    <xsd:import namespace="15e89e24-2aba-45b7-8efd-fc9d9a434f6e"/>
    <xsd:import namespace="1bee4405-928b-4826-a317-3293bd29121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OCR" minOccurs="0"/>
                <xsd:element ref="ns4:MediaServiceGenerationTime" minOccurs="0"/>
                <xsd:element ref="ns4:MediaServiceEventHashCode"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e89e24-2aba-45b7-8efd-fc9d9a434f6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ee4405-928b-4826-a317-3293bd29121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bee4405-928b-4826-a317-3293bd29121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549111-9043-44E1-8231-4EAB179882F6}">
  <ds:schemaRefs>
    <ds:schemaRef ds:uri="15e89e24-2aba-45b7-8efd-fc9d9a434f6e"/>
    <ds:schemaRef ds:uri="1bee4405-928b-4826-a317-3293bd2912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4686484-5D8E-4B49-9C3F-6FA09DD18CDC}">
  <ds:schemaRefs>
    <ds:schemaRef ds:uri="http://purl.org/dc/terms/"/>
    <ds:schemaRef ds:uri="http://www.w3.org/XML/1998/namespace"/>
    <ds:schemaRef ds:uri="http://schemas.openxmlformats.org/package/2006/metadata/core-properties"/>
    <ds:schemaRef ds:uri="15e89e24-2aba-45b7-8efd-fc9d9a434f6e"/>
    <ds:schemaRef ds:uri="http://purl.org/dc/elements/1.1/"/>
    <ds:schemaRef ds:uri="http://purl.org/dc/dcmitype/"/>
    <ds:schemaRef ds:uri="http://schemas.microsoft.com/office/2006/documentManagement/types"/>
    <ds:schemaRef ds:uri="http://schemas.microsoft.com/office/infopath/2007/PartnerControls"/>
    <ds:schemaRef ds:uri="1bee4405-928b-4826-a317-3293bd291210"/>
    <ds:schemaRef ds:uri="http://schemas.microsoft.com/office/2006/metadata/properties"/>
  </ds:schemaRefs>
</ds:datastoreItem>
</file>

<file path=customXml/itemProps3.xml><?xml version="1.0" encoding="utf-8"?>
<ds:datastoreItem xmlns:ds="http://schemas.openxmlformats.org/officeDocument/2006/customXml" ds:itemID="{8A21E739-CE2C-4505-B0DB-CD2E9E2B8A53}">
  <ds:schemaRefs>
    <ds:schemaRef ds:uri="http://schemas.microsoft.com/sharepoint/v3/contenttype/forms"/>
  </ds:schemaRefs>
</ds:datastoreItem>
</file>

<file path=docMetadata/LabelInfo.xml><?xml version="1.0" encoding="utf-8"?>
<clbl:labelList xmlns:clbl="http://schemas.microsoft.com/office/2020/mipLabelMetadata">
  <clbl:label id="{22177130-642f-41d9-9211-74237ad5687d}" enabled="0" method="" siteId="{22177130-642f-41d9-9211-74237ad5687d}" removed="1"/>
</clbl:labelList>
</file>

<file path=docProps/app.xml><?xml version="1.0" encoding="utf-8"?>
<Properties xmlns="http://schemas.openxmlformats.org/officeDocument/2006/extended-properties" xmlns:vt="http://schemas.openxmlformats.org/officeDocument/2006/docPropsVTypes">
  <TotalTime>0</TotalTime>
  <Words>1979</Words>
  <Application>Microsoft Office PowerPoint</Application>
  <PresentationFormat>Widescreen</PresentationFormat>
  <Paragraphs>234</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Courier New</vt:lpstr>
      <vt:lpstr>Office Theme</vt:lpstr>
      <vt:lpstr>Accelerating Design Exploration and Optimization with Surrogate Physics Models</vt:lpstr>
      <vt:lpstr>Our Background</vt:lpstr>
      <vt:lpstr>Jack Bajcz</vt:lpstr>
      <vt:lpstr>Nico Quirante</vt:lpstr>
      <vt:lpstr>Problem Introduction</vt:lpstr>
      <vt:lpstr>Why is this important?</vt:lpstr>
      <vt:lpstr>Dataset </vt:lpstr>
      <vt:lpstr>Preprocessing</vt:lpstr>
      <vt:lpstr>Surrogate Model Approach</vt:lpstr>
      <vt:lpstr>Inverse Design</vt:lpstr>
      <vt:lpstr>Random Sampling</vt:lpstr>
      <vt:lpstr>Multi-Start Gradient Optimization</vt:lpstr>
      <vt:lpstr>Validation with nTop</vt:lpstr>
      <vt:lpstr>Model Performance Plots</vt:lpstr>
      <vt:lpstr>Future improvements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Bajcz, Jack</dc:creator>
  <cp:lastModifiedBy>Bajcz, Jack</cp:lastModifiedBy>
  <cp:revision>1</cp:revision>
  <dcterms:created xsi:type="dcterms:W3CDTF">2025-08-16T22:07:00Z</dcterms:created>
  <dcterms:modified xsi:type="dcterms:W3CDTF">2025-08-17T15:02:57Z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0x010100E46B31CCF489F04E9A98590D1BDDFAFD</vt:lpwstr>
  </property>
</Properties>
</file>